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7"/>
  </p:notesMasterIdLst>
  <p:handoutMasterIdLst>
    <p:handoutMasterId r:id="rId28"/>
  </p:handoutMasterIdLst>
  <p:sldIdLst>
    <p:sldId id="334" r:id="rId5"/>
    <p:sldId id="307" r:id="rId6"/>
    <p:sldId id="281" r:id="rId7"/>
    <p:sldId id="336" r:id="rId8"/>
    <p:sldId id="337" r:id="rId9"/>
    <p:sldId id="338" r:id="rId10"/>
    <p:sldId id="339" r:id="rId11"/>
    <p:sldId id="282" r:id="rId12"/>
    <p:sldId id="343" r:id="rId13"/>
    <p:sldId id="341" r:id="rId14"/>
    <p:sldId id="318" r:id="rId15"/>
    <p:sldId id="345" r:id="rId16"/>
    <p:sldId id="346" r:id="rId17"/>
    <p:sldId id="347" r:id="rId18"/>
    <p:sldId id="319" r:id="rId19"/>
    <p:sldId id="340" r:id="rId20"/>
    <p:sldId id="348" r:id="rId21"/>
    <p:sldId id="349" r:id="rId22"/>
    <p:sldId id="350" r:id="rId23"/>
    <p:sldId id="342" r:id="rId24"/>
    <p:sldId id="331" r:id="rId25"/>
    <p:sldId id="297" r:id="rId26"/>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4A295B27-B9F2-4F8A-9D36-46B5E106A40C}">
          <p14:sldIdLst>
            <p14:sldId id="334"/>
            <p14:sldId id="307"/>
            <p14:sldId id="281"/>
            <p14:sldId id="336"/>
            <p14:sldId id="337"/>
            <p14:sldId id="338"/>
            <p14:sldId id="339"/>
            <p14:sldId id="282"/>
            <p14:sldId id="343"/>
            <p14:sldId id="341"/>
            <p14:sldId id="318"/>
            <p14:sldId id="345"/>
            <p14:sldId id="346"/>
            <p14:sldId id="347"/>
            <p14:sldId id="319"/>
            <p14:sldId id="340"/>
            <p14:sldId id="348"/>
            <p14:sldId id="349"/>
            <p14:sldId id="350"/>
            <p14:sldId id="342"/>
            <p14:sldId id="331"/>
            <p14:sldId id="297"/>
          </p14:sldIdLst>
        </p14:section>
      </p14:sectionLst>
    </p:ex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BF6"/>
    <a:srgbClr val="202C8F"/>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5388" autoAdjust="0"/>
  </p:normalViewPr>
  <p:slideViewPr>
    <p:cSldViewPr snapToGrid="0" snapToObjects="1">
      <p:cViewPr varScale="1">
        <p:scale>
          <a:sx n="78" d="100"/>
          <a:sy n="78" d="100"/>
        </p:scale>
        <p:origin x="869" y="7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485DF-FFB9-717C-B146-66934CEE4E84}"/>
              </a:ext>
            </a:extLst>
          </p:cNvPr>
          <p:cNvSpPr>
            <a:spLocks noGrp="1"/>
          </p:cNvSpPr>
          <p:nvPr>
            <p:ph type="title"/>
          </p:nvPr>
        </p:nvSpPr>
        <p:spPr>
          <a:xfrm>
            <a:off x="914400" y="692943"/>
            <a:ext cx="6583680" cy="673203"/>
          </a:xfrm>
        </p:spPr>
        <p:txBody>
          <a:bodyPr/>
          <a:lstStyle/>
          <a:p>
            <a:r>
              <a:rPr lang="en-US" dirty="0"/>
              <a:t>Agenda</a:t>
            </a:r>
            <a:endParaRPr lang="en-IN" dirty="0"/>
          </a:p>
        </p:txBody>
      </p:sp>
      <p:sp>
        <p:nvSpPr>
          <p:cNvPr id="3" name="Content Placeholder 2">
            <a:extLst>
              <a:ext uri="{FF2B5EF4-FFF2-40B4-BE49-F238E27FC236}">
                <a16:creationId xmlns:a16="http://schemas.microsoft.com/office/drawing/2014/main" id="{803B14F1-EA03-F8E8-F3A7-EBC279B8CB2F}"/>
              </a:ext>
            </a:extLst>
          </p:cNvPr>
          <p:cNvSpPr>
            <a:spLocks noGrp="1"/>
          </p:cNvSpPr>
          <p:nvPr>
            <p:ph idx="1"/>
          </p:nvPr>
        </p:nvSpPr>
        <p:spPr>
          <a:xfrm>
            <a:off x="914400" y="1661652"/>
            <a:ext cx="6583680" cy="4247535"/>
          </a:xfrm>
        </p:spPr>
        <p:txBody>
          <a:bodyPr vert="horz" lIns="91440" tIns="0" rIns="91440" bIns="0" rtlCol="0" anchor="t">
            <a:normAutofit/>
          </a:bodyPr>
          <a:lstStyle/>
          <a:p>
            <a:pPr marL="342900" indent="-342900">
              <a:buFont typeface="Arial" panose="020B0604020202020204" pitchFamily="34" charset="0"/>
              <a:buChar char="•"/>
            </a:pPr>
            <a:r>
              <a:rPr lang="en-US" dirty="0"/>
              <a:t>Introduction</a:t>
            </a:r>
          </a:p>
          <a:p>
            <a:pPr marL="342900" indent="-342900">
              <a:buFont typeface="Arial" panose="020B0604020202020204" pitchFamily="34" charset="0"/>
              <a:buChar char="•"/>
            </a:pPr>
            <a:r>
              <a:rPr lang="en-US" dirty="0"/>
              <a:t>Objective</a:t>
            </a:r>
          </a:p>
          <a:p>
            <a:pPr marL="342900" indent="-342900">
              <a:buFont typeface="Arial" panose="020B0604020202020204" pitchFamily="34" charset="0"/>
              <a:buChar char="•"/>
            </a:pPr>
            <a:r>
              <a:rPr lang="en-US" dirty="0"/>
              <a:t>Technology Used</a:t>
            </a:r>
            <a:endParaRPr lang="en-US" dirty="0">
              <a:cs typeface="Sabon Next LT"/>
            </a:endParaRPr>
          </a:p>
          <a:p>
            <a:pPr marL="342900" indent="-342900">
              <a:buFont typeface="Arial" panose="020B0604020202020204" pitchFamily="34" charset="0"/>
              <a:buChar char="•"/>
            </a:pPr>
            <a:r>
              <a:rPr lang="en-US" dirty="0"/>
              <a:t>Use Case Diagram: Admin,User</a:t>
            </a:r>
            <a:endParaRPr lang="en-US" dirty="0">
              <a:cs typeface="Sabon Next LT"/>
            </a:endParaRPr>
          </a:p>
          <a:p>
            <a:pPr marL="342900" indent="-342900">
              <a:buFont typeface="Arial" panose="020B0604020202020204" pitchFamily="34" charset="0"/>
              <a:buChar char="•"/>
            </a:pPr>
            <a:r>
              <a:rPr lang="en-US" dirty="0"/>
              <a:t>Screenshots</a:t>
            </a:r>
          </a:p>
          <a:p>
            <a:pPr marL="342900" indent="-342900">
              <a:buFont typeface="Arial" panose="020B0604020202020204" pitchFamily="34" charset="0"/>
              <a:buChar char="•"/>
            </a:pPr>
            <a:r>
              <a:rPr lang="en-US" dirty="0"/>
              <a:t>Conclusion</a:t>
            </a:r>
            <a:endParaRPr lang="en-IN" dirty="0"/>
          </a:p>
        </p:txBody>
      </p:sp>
    </p:spTree>
    <p:extLst>
      <p:ext uri="{BB962C8B-B14F-4D97-AF65-F5344CB8AC3E}">
        <p14:creationId xmlns:p14="http://schemas.microsoft.com/office/powerpoint/2010/main" val="4208495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2873896" y="219371"/>
            <a:ext cx="6115665" cy="875332"/>
          </a:xfrm>
        </p:spPr>
        <p:txBody>
          <a:bodyPr/>
          <a:lstStyle/>
          <a:p>
            <a:pPr algn="ctr"/>
            <a:r>
              <a:rPr lang="en-US" dirty="0"/>
              <a:t>Introduction</a:t>
            </a:r>
          </a:p>
        </p:txBody>
      </p:sp>
      <p:sp>
        <p:nvSpPr>
          <p:cNvPr id="3" name="TextBox 2">
            <a:extLst>
              <a:ext uri="{FF2B5EF4-FFF2-40B4-BE49-F238E27FC236}">
                <a16:creationId xmlns:a16="http://schemas.microsoft.com/office/drawing/2014/main" id="{047E125C-9649-F435-A351-38AE6D4F7628}"/>
              </a:ext>
            </a:extLst>
          </p:cNvPr>
          <p:cNvSpPr txBox="1"/>
          <p:nvPr/>
        </p:nvSpPr>
        <p:spPr>
          <a:xfrm>
            <a:off x="1519456" y="1712483"/>
            <a:ext cx="8819536" cy="2862322"/>
          </a:xfrm>
          <a:prstGeom prst="rect">
            <a:avLst/>
          </a:prstGeom>
          <a:noFill/>
        </p:spPr>
        <p:txBody>
          <a:bodyPr wrap="square" lIns="91440" tIns="45720" rIns="91440" bIns="45720" rtlCol="0" anchor="t">
            <a:spAutoFit/>
          </a:bodyPr>
          <a:lstStyle/>
          <a:p>
            <a:r>
              <a:rPr lang="en-US" sz="2000" dirty="0">
                <a:ea typeface="+mn-lt"/>
                <a:cs typeface="+mn-lt"/>
              </a:rPr>
              <a:t>The Crop Recommendation System is a Python Django-based machine learning project that utilizes the Random Forest Classifier algorithm to provide accurate crop recommendations to farmers based on soil and environmental conditions. It consists of user and admin modules, allowing users to receive recommendations, view prediction history, and manage their profiles, while administrators can access analytics and manage users. The system uses parameters like nitrogen, phosphorous, potassium levels, temperature, humidity, pH, and rainfall to determine suitable crops. Its goal is to help farmers make informed decisions and maximize agricultural productivity</a:t>
            </a:r>
            <a:endParaRPr lang="en-US" sz="2000">
              <a:cs typeface="Sabon Next LT"/>
            </a:endParaRPr>
          </a:p>
        </p:txBody>
      </p:sp>
    </p:spTree>
    <p:extLst>
      <p:ext uri="{BB962C8B-B14F-4D97-AF65-F5344CB8AC3E}">
        <p14:creationId xmlns:p14="http://schemas.microsoft.com/office/powerpoint/2010/main" val="2906491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4254306" y="519862"/>
            <a:ext cx="3539613" cy="632122"/>
          </a:xfrm>
        </p:spPr>
        <p:txBody>
          <a:bodyPr/>
          <a:lstStyle/>
          <a:p>
            <a:pPr algn="ctr"/>
            <a:r>
              <a:rPr lang="en-US" dirty="0"/>
              <a:t>Objective</a:t>
            </a:r>
          </a:p>
        </p:txBody>
      </p:sp>
      <p:sp>
        <p:nvSpPr>
          <p:cNvPr id="8" name="Content Placeholder 7">
            <a:extLst>
              <a:ext uri="{FF2B5EF4-FFF2-40B4-BE49-F238E27FC236}">
                <a16:creationId xmlns:a16="http://schemas.microsoft.com/office/drawing/2014/main" id="{A7C131FE-FD71-68FB-D90F-B952CEFB1675}"/>
              </a:ext>
            </a:extLst>
          </p:cNvPr>
          <p:cNvSpPr>
            <a:spLocks noGrp="1"/>
          </p:cNvSpPr>
          <p:nvPr>
            <p:ph idx="1"/>
          </p:nvPr>
        </p:nvSpPr>
        <p:spPr>
          <a:xfrm>
            <a:off x="941022" y="1741886"/>
            <a:ext cx="10746658" cy="3369497"/>
          </a:xfrm>
        </p:spPr>
        <p:txBody>
          <a:bodyPr vert="horz" lIns="91440" tIns="0" rIns="91440" bIns="0" rtlCol="0" anchor="t">
            <a:noAutofit/>
          </a:bodyPr>
          <a:lstStyle/>
          <a:p>
            <a:r>
              <a:rPr lang="en-US" sz="2800" dirty="0">
                <a:ea typeface="+mn-lt"/>
                <a:cs typeface="+mn-lt"/>
              </a:rPr>
              <a:t>The Crop Recommendation System using Random Forest Classifier aims to achieve accurate crop selection, enhance crop yield, promote sustainable farming practices, serve as a decision support tool, provide a user-friendly interface, and ensure scalability and adaptability. By leveraging historical data and advanced algorithms, the system provides precise recommendations based on soil and environmental parameters, helping farmers make informed decisions for improved productivity and sustainability.</a:t>
            </a:r>
          </a:p>
        </p:txBody>
      </p:sp>
    </p:spTree>
    <p:extLst>
      <p:ext uri="{BB962C8B-B14F-4D97-AF65-F5344CB8AC3E}">
        <p14:creationId xmlns:p14="http://schemas.microsoft.com/office/powerpoint/2010/main" val="2952923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6A1EA-D187-2DCE-71C7-81C3493F1614}"/>
              </a:ext>
            </a:extLst>
          </p:cNvPr>
          <p:cNvSpPr>
            <a:spLocks noGrp="1"/>
          </p:cNvSpPr>
          <p:nvPr>
            <p:ph type="title"/>
          </p:nvPr>
        </p:nvSpPr>
        <p:spPr>
          <a:xfrm>
            <a:off x="914400" y="295274"/>
            <a:ext cx="7843837" cy="1012782"/>
          </a:xfrm>
        </p:spPr>
        <p:txBody>
          <a:bodyPr/>
          <a:lstStyle/>
          <a:p>
            <a:r>
              <a:rPr lang="en-US" dirty="0"/>
              <a:t>Problem definition</a:t>
            </a:r>
          </a:p>
        </p:txBody>
      </p:sp>
      <p:sp>
        <p:nvSpPr>
          <p:cNvPr id="3" name="Content Placeholder 2">
            <a:extLst>
              <a:ext uri="{FF2B5EF4-FFF2-40B4-BE49-F238E27FC236}">
                <a16:creationId xmlns:a16="http://schemas.microsoft.com/office/drawing/2014/main" id="{CDB95280-798B-3004-371A-43AEDD8D8023}"/>
              </a:ext>
            </a:extLst>
          </p:cNvPr>
          <p:cNvSpPr>
            <a:spLocks noGrp="1"/>
          </p:cNvSpPr>
          <p:nvPr>
            <p:ph idx="13"/>
          </p:nvPr>
        </p:nvSpPr>
        <p:spPr>
          <a:xfrm>
            <a:off x="238665" y="2029867"/>
            <a:ext cx="8757754" cy="3649931"/>
          </a:xfrm>
        </p:spPr>
        <p:txBody>
          <a:bodyPr vert="horz" lIns="91440" tIns="0" rIns="91440" bIns="0" rtlCol="0" anchor="t">
            <a:normAutofit/>
          </a:bodyPr>
          <a:lstStyle/>
          <a:p>
            <a:r>
              <a:rPr lang="en-US" dirty="0">
                <a:ea typeface="+mn-lt"/>
                <a:cs typeface="+mn-lt"/>
              </a:rPr>
              <a:t>The Crop Recommendation System addresses the challenge of providing accurate and personalized crop recommendations to farmers based on soil and environmental conditions. By leveraging the Random Forest Classifier algorithm and historical data, the system aims to overcome traditional limitations and assist farmers in making informed decisions. Its objective is to optimize agricultural productivity, minimize resource wastage, and contribute to sustainable practices in the agriculture industry</a:t>
            </a:r>
            <a:endParaRPr lang="en-US" dirty="0">
              <a:cs typeface="Sabon Next LT"/>
            </a:endParaRPr>
          </a:p>
        </p:txBody>
      </p:sp>
      <p:sp>
        <p:nvSpPr>
          <p:cNvPr id="5" name="Slide Number Placeholder 4">
            <a:extLst>
              <a:ext uri="{FF2B5EF4-FFF2-40B4-BE49-F238E27FC236}">
                <a16:creationId xmlns:a16="http://schemas.microsoft.com/office/drawing/2014/main" id="{B99B0718-DEE9-6817-B188-86F038B26025}"/>
              </a:ext>
            </a:extLst>
          </p:cNvPr>
          <p:cNvSpPr>
            <a:spLocks noGrp="1"/>
          </p:cNvSpPr>
          <p:nvPr>
            <p:ph type="sldNum" sz="quarter" idx="10"/>
          </p:nvPr>
        </p:nvSpPr>
        <p:spPr/>
        <p:txBody>
          <a:bodyPr/>
          <a:lstStyle/>
          <a:p>
            <a:fld id="{48F63A3B-78C7-47BE-AE5E-E10140E04643}" type="slidenum">
              <a:rPr lang="en-US" smtClean="0"/>
              <a:pPr/>
              <a:t>4</a:t>
            </a:fld>
            <a:endParaRPr lang="en-US" dirty="0"/>
          </a:p>
        </p:txBody>
      </p:sp>
    </p:spTree>
    <p:extLst>
      <p:ext uri="{BB962C8B-B14F-4D97-AF65-F5344CB8AC3E}">
        <p14:creationId xmlns:p14="http://schemas.microsoft.com/office/powerpoint/2010/main" val="1462173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8C714-60FA-8FD3-27BB-553C63CF821F}"/>
              </a:ext>
            </a:extLst>
          </p:cNvPr>
          <p:cNvSpPr>
            <a:spLocks noGrp="1"/>
          </p:cNvSpPr>
          <p:nvPr>
            <p:ph type="title"/>
          </p:nvPr>
        </p:nvSpPr>
        <p:spPr>
          <a:xfrm>
            <a:off x="253042" y="453424"/>
            <a:ext cx="6583680" cy="625584"/>
          </a:xfrm>
        </p:spPr>
        <p:txBody>
          <a:bodyPr/>
          <a:lstStyle/>
          <a:p>
            <a:r>
              <a:rPr lang="en-US" dirty="0"/>
              <a:t>Need of the system</a:t>
            </a:r>
          </a:p>
        </p:txBody>
      </p:sp>
      <p:sp>
        <p:nvSpPr>
          <p:cNvPr id="3" name="Content Placeholder 2">
            <a:extLst>
              <a:ext uri="{FF2B5EF4-FFF2-40B4-BE49-F238E27FC236}">
                <a16:creationId xmlns:a16="http://schemas.microsoft.com/office/drawing/2014/main" id="{159CF7A4-DF53-55E8-0198-2C7DBD9F2D10}"/>
              </a:ext>
            </a:extLst>
          </p:cNvPr>
          <p:cNvSpPr>
            <a:spLocks noGrp="1"/>
          </p:cNvSpPr>
          <p:nvPr>
            <p:ph idx="1"/>
          </p:nvPr>
        </p:nvSpPr>
        <p:spPr>
          <a:xfrm>
            <a:off x="253042" y="1454413"/>
            <a:ext cx="8855302" cy="3954966"/>
          </a:xfrm>
        </p:spPr>
        <p:txBody>
          <a:bodyPr vert="horz" lIns="91440" tIns="0" rIns="91440" bIns="0" rtlCol="0" anchor="t">
            <a:noAutofit/>
          </a:bodyPr>
          <a:lstStyle/>
          <a:p>
            <a:r>
              <a:rPr lang="en-US" sz="1800" dirty="0">
                <a:ea typeface="+mn-lt"/>
                <a:cs typeface="+mn-lt"/>
              </a:rPr>
              <a:t>The need for the Crop Recommendation System using Random Forest Classifier arises from the challenges faced by farmers in making informed decisions about crop selection. Traditional methods often lack accuracy and fail to consider various factors affecting crop productivity. By leveraging machine learning techniques, the system provides precise and data-driven recommendations based on factors such as soil composition, temperature, humidity, pH level, and rainfall. This helps farmers optimize resource allocation, improve crop yield, minimize environmental impact, and make informed decisions for sustainable agricultural practices. The system serves as a valuable tool to enhance productivity, profitability, and sustainability in the agriculture sector</a:t>
            </a:r>
            <a:endParaRPr lang="en-US" sz="1800">
              <a:cs typeface="Sabon Next LT"/>
            </a:endParaRPr>
          </a:p>
        </p:txBody>
      </p:sp>
      <p:sp>
        <p:nvSpPr>
          <p:cNvPr id="4" name="Slide Number Placeholder 3">
            <a:extLst>
              <a:ext uri="{FF2B5EF4-FFF2-40B4-BE49-F238E27FC236}">
                <a16:creationId xmlns:a16="http://schemas.microsoft.com/office/drawing/2014/main" id="{99F64ECC-80E0-B297-3E15-4C1E9B56A63F}"/>
              </a:ext>
            </a:extLst>
          </p:cNvPr>
          <p:cNvSpPr>
            <a:spLocks noGrp="1"/>
          </p:cNvSpPr>
          <p:nvPr>
            <p:ph type="sldNum" sz="quarter" idx="10"/>
          </p:nvPr>
        </p:nvSpPr>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2127820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7DB4E-8376-6E1F-7FA4-B278688E0182}"/>
              </a:ext>
            </a:extLst>
          </p:cNvPr>
          <p:cNvSpPr>
            <a:spLocks noGrp="1"/>
          </p:cNvSpPr>
          <p:nvPr>
            <p:ph type="title"/>
          </p:nvPr>
        </p:nvSpPr>
        <p:spPr>
          <a:xfrm>
            <a:off x="382438" y="194632"/>
            <a:ext cx="10511627" cy="1012785"/>
          </a:xfrm>
        </p:spPr>
        <p:txBody>
          <a:bodyPr/>
          <a:lstStyle/>
          <a:p>
            <a:r>
              <a:rPr lang="en-US" dirty="0"/>
              <a:t>User module</a:t>
            </a:r>
          </a:p>
        </p:txBody>
      </p:sp>
      <p:sp>
        <p:nvSpPr>
          <p:cNvPr id="3" name="Content Placeholder 2">
            <a:extLst>
              <a:ext uri="{FF2B5EF4-FFF2-40B4-BE49-F238E27FC236}">
                <a16:creationId xmlns:a16="http://schemas.microsoft.com/office/drawing/2014/main" id="{64E55BA7-6BC4-008F-8243-3A253AEDAEDD}"/>
              </a:ext>
            </a:extLst>
          </p:cNvPr>
          <p:cNvSpPr>
            <a:spLocks noGrp="1"/>
          </p:cNvSpPr>
          <p:nvPr>
            <p:ph sz="quarter" idx="4"/>
          </p:nvPr>
        </p:nvSpPr>
        <p:spPr>
          <a:xfrm>
            <a:off x="799381" y="1295275"/>
            <a:ext cx="10597891" cy="4264858"/>
          </a:xfrm>
        </p:spPr>
        <p:txBody>
          <a:bodyPr vert="horz" lIns="91440" tIns="91440" rIns="91440" bIns="91440" rtlCol="0" anchor="t">
            <a:noAutofit/>
          </a:bodyPr>
          <a:lstStyle/>
          <a:p>
            <a:pPr marL="347345" indent="-347345"/>
            <a:r>
              <a:rPr lang="en-US" sz="2000" b="1" dirty="0">
                <a:ea typeface="+mn-lt"/>
                <a:cs typeface="+mn-lt"/>
              </a:rPr>
              <a:t>Signup:</a:t>
            </a:r>
            <a:r>
              <a:rPr lang="en-US" sz="2000" dirty="0">
                <a:ea typeface="+mn-lt"/>
                <a:cs typeface="+mn-lt"/>
              </a:rPr>
              <a:t> Users can create a new account by providing their personal details, such as name, email, and password.</a:t>
            </a:r>
            <a:endParaRPr lang="en-US" sz="2000">
              <a:cs typeface="Sabon Next LT"/>
            </a:endParaRPr>
          </a:p>
          <a:p>
            <a:pPr marL="347345" indent="-347345"/>
            <a:r>
              <a:rPr lang="en-US" sz="2400" b="1" dirty="0">
                <a:ea typeface="+mn-lt"/>
                <a:cs typeface="+mn-lt"/>
              </a:rPr>
              <a:t>Login:</a:t>
            </a:r>
            <a:r>
              <a:rPr lang="en-US" sz="2000" dirty="0">
                <a:ea typeface="+mn-lt"/>
                <a:cs typeface="+mn-lt"/>
              </a:rPr>
              <a:t> Registered users can log in to the system using their credentials to access personalized features.</a:t>
            </a:r>
            <a:endParaRPr lang="en-US" sz="2000">
              <a:cs typeface="Sabon Next LT"/>
            </a:endParaRPr>
          </a:p>
          <a:p>
            <a:pPr marL="347345" indent="-347345"/>
            <a:r>
              <a:rPr lang="en-US" sz="2000" b="1" dirty="0">
                <a:ea typeface="+mn-lt"/>
                <a:cs typeface="+mn-lt"/>
              </a:rPr>
              <a:t>Crop Recommendation Prediction:</a:t>
            </a:r>
            <a:r>
              <a:rPr lang="en-US" sz="2000" dirty="0">
                <a:ea typeface="+mn-lt"/>
                <a:cs typeface="+mn-lt"/>
              </a:rPr>
              <a:t> Users can input various parameters such as nitrogen, phosphorous, potassium levels in the soil, temperature, humidity, pH value, and rainfall to get crop recommendations based on the Random Forest Classifier algorithm.</a:t>
            </a:r>
            <a:endParaRPr lang="en-US" sz="2000">
              <a:cs typeface="Sabon Next LT"/>
            </a:endParaRPr>
          </a:p>
          <a:p>
            <a:pPr marL="347345" indent="-347345"/>
            <a:r>
              <a:rPr lang="en-US" sz="2000" b="1" dirty="0">
                <a:ea typeface="+mn-lt"/>
                <a:cs typeface="+mn-lt"/>
              </a:rPr>
              <a:t>View Prediction History:</a:t>
            </a:r>
            <a:r>
              <a:rPr lang="en-US" sz="2000" dirty="0">
                <a:ea typeface="+mn-lt"/>
                <a:cs typeface="+mn-lt"/>
              </a:rPr>
              <a:t> Users can view their past crop recommendation predictions, including the recommended crops and relevant details.</a:t>
            </a:r>
            <a:endParaRPr lang="en-US" sz="2000">
              <a:cs typeface="Sabon Next LT"/>
            </a:endParaRPr>
          </a:p>
          <a:p>
            <a:pPr marL="347345" indent="-347345"/>
            <a:r>
              <a:rPr lang="en-US" sz="2000" b="1" dirty="0">
                <a:ea typeface="+mn-lt"/>
                <a:cs typeface="+mn-lt"/>
              </a:rPr>
              <a:t>Edit Profile:</a:t>
            </a:r>
            <a:r>
              <a:rPr lang="en-US" sz="2000" dirty="0">
                <a:ea typeface="+mn-lt"/>
                <a:cs typeface="+mn-lt"/>
              </a:rPr>
              <a:t> Users have the option to update their profile information, such as name, contact details, or any other relevant information.</a:t>
            </a:r>
            <a:endParaRPr lang="en-US" sz="2000">
              <a:cs typeface="Sabon Next LT"/>
            </a:endParaRPr>
          </a:p>
          <a:p>
            <a:pPr marL="347345" indent="-347345"/>
            <a:r>
              <a:rPr lang="en-US" sz="2000" b="1" dirty="0">
                <a:ea typeface="+mn-lt"/>
                <a:cs typeface="+mn-lt"/>
              </a:rPr>
              <a:t>Change Password:</a:t>
            </a:r>
            <a:r>
              <a:rPr lang="en-US" sz="2000" dirty="0">
                <a:ea typeface="+mn-lt"/>
                <a:cs typeface="+mn-lt"/>
              </a:rPr>
              <a:t> Users can change their account password to enhance security.</a:t>
            </a:r>
            <a:endParaRPr lang="en-US" sz="2000">
              <a:cs typeface="Sabon Next LT"/>
            </a:endParaRPr>
          </a:p>
          <a:p>
            <a:pPr marL="347345" indent="-347345"/>
            <a:r>
              <a:rPr lang="en-US" sz="2000" b="1" dirty="0">
                <a:ea typeface="+mn-lt"/>
                <a:cs typeface="+mn-lt"/>
              </a:rPr>
              <a:t>Logout:</a:t>
            </a:r>
            <a:r>
              <a:rPr lang="en-US" sz="2000" dirty="0">
                <a:ea typeface="+mn-lt"/>
                <a:cs typeface="+mn-lt"/>
              </a:rPr>
              <a:t> Users can log out of the system to end their session securely.</a:t>
            </a:r>
            <a:endParaRPr lang="en-US" sz="2000">
              <a:cs typeface="Sabon Next LT"/>
            </a:endParaRPr>
          </a:p>
        </p:txBody>
      </p:sp>
      <p:sp>
        <p:nvSpPr>
          <p:cNvPr id="4" name="Slide Number Placeholder 3">
            <a:extLst>
              <a:ext uri="{FF2B5EF4-FFF2-40B4-BE49-F238E27FC236}">
                <a16:creationId xmlns:a16="http://schemas.microsoft.com/office/drawing/2014/main" id="{2FDE0DBD-8BD0-F729-7075-CAD4D86E2D47}"/>
              </a:ext>
            </a:extLst>
          </p:cNvPr>
          <p:cNvSpPr>
            <a:spLocks noGrp="1"/>
          </p:cNvSpPr>
          <p:nvPr>
            <p:ph type="sldNum" sz="quarter" idx="10"/>
          </p:nvPr>
        </p:nvSpPr>
        <p:spPr/>
        <p:txBody>
          <a:bodyPr/>
          <a:lstStyle/>
          <a:p>
            <a:fld id="{48F63A3B-78C7-47BE-AE5E-E10140E04643}" type="slidenum">
              <a:rPr lang="en-US" smtClean="0"/>
              <a:pPr/>
              <a:t>6</a:t>
            </a:fld>
            <a:endParaRPr lang="en-US" dirty="0"/>
          </a:p>
        </p:txBody>
      </p:sp>
    </p:spTree>
    <p:extLst>
      <p:ext uri="{BB962C8B-B14F-4D97-AF65-F5344CB8AC3E}">
        <p14:creationId xmlns:p14="http://schemas.microsoft.com/office/powerpoint/2010/main" val="2536162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53B00-835A-6FEF-992F-5411A5C54B05}"/>
              </a:ext>
            </a:extLst>
          </p:cNvPr>
          <p:cNvSpPr>
            <a:spLocks noGrp="1"/>
          </p:cNvSpPr>
          <p:nvPr>
            <p:ph type="title"/>
          </p:nvPr>
        </p:nvSpPr>
        <p:spPr>
          <a:xfrm>
            <a:off x="727494" y="324028"/>
            <a:ext cx="10511627" cy="739616"/>
          </a:xfrm>
        </p:spPr>
        <p:txBody>
          <a:bodyPr/>
          <a:lstStyle/>
          <a:p>
            <a:r>
              <a:rPr lang="en-US" dirty="0"/>
              <a:t>Admin module</a:t>
            </a:r>
          </a:p>
        </p:txBody>
      </p:sp>
      <p:sp>
        <p:nvSpPr>
          <p:cNvPr id="3" name="Content Placeholder 2">
            <a:extLst>
              <a:ext uri="{FF2B5EF4-FFF2-40B4-BE49-F238E27FC236}">
                <a16:creationId xmlns:a16="http://schemas.microsoft.com/office/drawing/2014/main" id="{6A9DA0EC-9B41-B4FE-220B-5E6A30E19CA5}"/>
              </a:ext>
            </a:extLst>
          </p:cNvPr>
          <p:cNvSpPr>
            <a:spLocks noGrp="1"/>
          </p:cNvSpPr>
          <p:nvPr>
            <p:ph sz="quarter" idx="4"/>
          </p:nvPr>
        </p:nvSpPr>
        <p:spPr>
          <a:xfrm>
            <a:off x="727494" y="1252143"/>
            <a:ext cx="10511627" cy="3948557"/>
          </a:xfrm>
        </p:spPr>
        <p:txBody>
          <a:bodyPr vert="horz" lIns="91440" tIns="91440" rIns="91440" bIns="91440" rtlCol="0" anchor="t">
            <a:noAutofit/>
          </a:bodyPr>
          <a:lstStyle/>
          <a:p>
            <a:pPr marL="347345" indent="-347345"/>
            <a:r>
              <a:rPr lang="en-US" sz="2000" b="1" dirty="0">
                <a:ea typeface="+mn-lt"/>
                <a:cs typeface="+mn-lt"/>
              </a:rPr>
              <a:t>Login: </a:t>
            </a:r>
            <a:r>
              <a:rPr lang="en-US" sz="2000" dirty="0">
                <a:ea typeface="+mn-lt"/>
                <a:cs typeface="+mn-lt"/>
              </a:rPr>
              <a:t>The admin will have a login functionality to access the admin dashboard and perform administrative tasks.</a:t>
            </a:r>
            <a:endParaRPr lang="en-US" sz="2000">
              <a:cs typeface="Sabon Next LT"/>
            </a:endParaRPr>
          </a:p>
          <a:p>
            <a:pPr marL="347345" indent="-347345"/>
            <a:r>
              <a:rPr lang="en-US" sz="2000" b="1" dirty="0">
                <a:ea typeface="+mn-lt"/>
                <a:cs typeface="+mn-lt"/>
              </a:rPr>
              <a:t>Dashboard:</a:t>
            </a:r>
            <a:r>
              <a:rPr lang="en-US" sz="2000" dirty="0">
                <a:ea typeface="+mn-lt"/>
                <a:cs typeface="+mn-lt"/>
              </a:rPr>
              <a:t> The admin will have a dashboard that provides an overview of important information such as user counts, recommendation prediction results count, and other relevant statistics.</a:t>
            </a:r>
            <a:endParaRPr lang="en-US" sz="2000">
              <a:cs typeface="Sabon Next LT"/>
            </a:endParaRPr>
          </a:p>
          <a:p>
            <a:pPr marL="347345" indent="-347345"/>
            <a:r>
              <a:rPr lang="en-US" sz="2000" b="1" dirty="0">
                <a:ea typeface="+mn-lt"/>
                <a:cs typeface="+mn-lt"/>
              </a:rPr>
              <a:t>View Prediction History:</a:t>
            </a:r>
            <a:r>
              <a:rPr lang="en-US" sz="2000" dirty="0">
                <a:ea typeface="+mn-lt"/>
                <a:cs typeface="+mn-lt"/>
              </a:rPr>
              <a:t> The admin will be able to view the</a:t>
            </a:r>
            <a:endParaRPr lang="en-US" sz="2000">
              <a:cs typeface="Sabon Next LT"/>
            </a:endParaRPr>
          </a:p>
          <a:p>
            <a:pPr marL="347345" indent="-347345"/>
            <a:r>
              <a:rPr lang="en-US" sz="2000" dirty="0">
                <a:ea typeface="+mn-lt"/>
                <a:cs typeface="+mn-lt"/>
              </a:rPr>
              <a:t>prediction history, which includes the crop recommendations made for different users over time.</a:t>
            </a:r>
            <a:endParaRPr lang="en-US" sz="2000">
              <a:cs typeface="Sabon Next LT"/>
            </a:endParaRPr>
          </a:p>
          <a:p>
            <a:pPr marL="347345" indent="-347345"/>
            <a:r>
              <a:rPr lang="en-US" sz="2000" b="1" dirty="0">
                <a:ea typeface="+mn-lt"/>
                <a:cs typeface="+mn-lt"/>
              </a:rPr>
              <a:t>View Registered Users:</a:t>
            </a:r>
            <a:r>
              <a:rPr lang="en-US" sz="2000" dirty="0">
                <a:ea typeface="+mn-lt"/>
                <a:cs typeface="+mn-lt"/>
              </a:rPr>
              <a:t> The admin can view the list of</a:t>
            </a:r>
            <a:endParaRPr lang="en-US" sz="2000">
              <a:cs typeface="Sabon Next LT"/>
            </a:endParaRPr>
          </a:p>
          <a:p>
            <a:pPr marL="347345" indent="-347345"/>
            <a:r>
              <a:rPr lang="en-US" sz="2000" dirty="0">
                <a:ea typeface="+mn-lt"/>
                <a:cs typeface="+mn-lt"/>
              </a:rPr>
              <a:t>registered users in the system, including their details such as name, contact information, and other relevant information.</a:t>
            </a:r>
            <a:endParaRPr lang="en-US" sz="2000">
              <a:cs typeface="Sabon Next LT"/>
            </a:endParaRPr>
          </a:p>
          <a:p>
            <a:pPr marL="347345" indent="-347345"/>
            <a:r>
              <a:rPr lang="en-US" sz="2000" b="1" dirty="0">
                <a:ea typeface="+mn-lt"/>
                <a:cs typeface="+mn-lt"/>
              </a:rPr>
              <a:t>Change Password: </a:t>
            </a:r>
            <a:r>
              <a:rPr lang="en-US" sz="2000" dirty="0">
                <a:ea typeface="+mn-lt"/>
                <a:cs typeface="+mn-lt"/>
              </a:rPr>
              <a:t>The admin will have the ability to change their password for security purposes.</a:t>
            </a:r>
            <a:endParaRPr lang="en-US" sz="2000">
              <a:cs typeface="Sabon Next LT"/>
            </a:endParaRPr>
          </a:p>
          <a:p>
            <a:pPr marL="347345" indent="-347345"/>
            <a:r>
              <a:rPr lang="en-US" sz="2000" b="1" dirty="0">
                <a:ea typeface="+mn-lt"/>
                <a:cs typeface="+mn-lt"/>
              </a:rPr>
              <a:t>Logout:</a:t>
            </a:r>
            <a:r>
              <a:rPr lang="en-US" sz="2000" dirty="0">
                <a:ea typeface="+mn-lt"/>
                <a:cs typeface="+mn-lt"/>
              </a:rPr>
              <a:t> The admin can log out of the admin panel to ensure secure access to the system.</a:t>
            </a:r>
            <a:endParaRPr lang="en-US" sz="2000">
              <a:cs typeface="Sabon Next LT"/>
            </a:endParaRPr>
          </a:p>
        </p:txBody>
      </p:sp>
      <p:sp>
        <p:nvSpPr>
          <p:cNvPr id="4" name="Slide Number Placeholder 3">
            <a:extLst>
              <a:ext uri="{FF2B5EF4-FFF2-40B4-BE49-F238E27FC236}">
                <a16:creationId xmlns:a16="http://schemas.microsoft.com/office/drawing/2014/main" id="{AF977A94-4B5B-BCD0-60B8-5633FF5FD524}"/>
              </a:ext>
            </a:extLst>
          </p:cNvPr>
          <p:cNvSpPr>
            <a:spLocks noGrp="1"/>
          </p:cNvSpPr>
          <p:nvPr>
            <p:ph type="sldNum" sz="quarter" idx="10"/>
          </p:nvPr>
        </p:nvSpPr>
        <p:spPr/>
        <p:txBody>
          <a:bodyPr/>
          <a:lstStyle/>
          <a:p>
            <a:fld id="{48F63A3B-78C7-47BE-AE5E-E10140E04643}" type="slidenum">
              <a:rPr lang="en-US" smtClean="0"/>
              <a:pPr/>
              <a:t>7</a:t>
            </a:fld>
            <a:endParaRPr lang="en-US" dirty="0"/>
          </a:p>
        </p:txBody>
      </p:sp>
    </p:spTree>
    <p:extLst>
      <p:ext uri="{BB962C8B-B14F-4D97-AF65-F5344CB8AC3E}">
        <p14:creationId xmlns:p14="http://schemas.microsoft.com/office/powerpoint/2010/main" val="721305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254087" y="329762"/>
            <a:ext cx="7965461" cy="598926"/>
          </a:xfrm>
        </p:spPr>
        <p:txBody>
          <a:bodyPr/>
          <a:lstStyle/>
          <a:p>
            <a:pPr algn="ctr"/>
            <a:r>
              <a:rPr lang="en-US" dirty="0"/>
              <a:t>Technology Used</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254088" y="1730478"/>
            <a:ext cx="7965460" cy="3932598"/>
          </a:xfrm>
        </p:spPr>
        <p:txBody>
          <a:bodyPr vert="horz" lIns="91440" tIns="0" rIns="91440" bIns="0" rtlCol="0" anchor="t">
            <a:normAutofit lnSpcReduction="10000"/>
          </a:bodyPr>
          <a:lstStyle/>
          <a:p>
            <a:pPr marL="347345" indent="-347345"/>
            <a:r>
              <a:rPr lang="en-US" sz="2800" b="1" dirty="0"/>
              <a:t>Frontend: </a:t>
            </a:r>
            <a:endParaRPr lang="en-US" sz="2800" b="1"/>
          </a:p>
          <a:p>
            <a:pPr marL="0" indent="0">
              <a:buNone/>
            </a:pPr>
            <a:r>
              <a:rPr lang="en-US" dirty="0"/>
              <a:t>       </a:t>
            </a:r>
            <a:r>
              <a:rPr lang="en-US" sz="2000" dirty="0"/>
              <a:t>HTML, CSS, BOOTSTRAP</a:t>
            </a:r>
            <a:endParaRPr lang="en-US" sz="2000" dirty="0">
              <a:cs typeface="Sabon Next LT"/>
            </a:endParaRPr>
          </a:p>
          <a:p>
            <a:pPr marL="0" indent="0">
              <a:buNone/>
            </a:pPr>
            <a:endParaRPr lang="en-US" dirty="0"/>
          </a:p>
          <a:p>
            <a:pPr marL="347345" indent="-347345"/>
            <a:r>
              <a:rPr lang="en-US" sz="2800" b="1" dirty="0"/>
              <a:t>Backend: </a:t>
            </a:r>
            <a:endParaRPr lang="en-US" sz="2800" b="1" dirty="0">
              <a:cs typeface="Sabon Next LT"/>
            </a:endParaRPr>
          </a:p>
          <a:p>
            <a:pPr marL="0" indent="0">
              <a:buNone/>
            </a:pPr>
            <a:r>
              <a:rPr lang="en-US" dirty="0"/>
              <a:t>      </a:t>
            </a:r>
            <a:r>
              <a:rPr lang="en-US" sz="2000" dirty="0"/>
              <a:t> PYTHON DJANGO</a:t>
            </a:r>
            <a:endParaRPr lang="en-US" sz="2000" dirty="0">
              <a:cs typeface="Sabon Next LT"/>
            </a:endParaRPr>
          </a:p>
          <a:p>
            <a:pPr marL="0" indent="0">
              <a:buNone/>
            </a:pPr>
            <a:endParaRPr lang="en-US" dirty="0"/>
          </a:p>
          <a:p>
            <a:pPr marL="347345" indent="-347345"/>
            <a:r>
              <a:rPr lang="en-US" sz="2800" b="1" dirty="0"/>
              <a:t>Database Use:</a:t>
            </a:r>
            <a:r>
              <a:rPr lang="en-US" sz="2400" dirty="0"/>
              <a:t> </a:t>
            </a:r>
            <a:endParaRPr lang="en-US" sz="2400" dirty="0">
              <a:cs typeface="Sabon Next LT"/>
            </a:endParaRPr>
          </a:p>
          <a:p>
            <a:pPr marL="0" indent="0">
              <a:buNone/>
            </a:pPr>
            <a:r>
              <a:rPr lang="en-US" dirty="0"/>
              <a:t>     </a:t>
            </a:r>
            <a:r>
              <a:rPr lang="en-US" sz="2000" dirty="0"/>
              <a:t> </a:t>
            </a:r>
            <a:r>
              <a:rPr lang="en-US" sz="2400" dirty="0"/>
              <a:t>SQLite(DATABASE)</a:t>
            </a:r>
            <a:endParaRPr lang="en-US" sz="2400" dirty="0">
              <a:cs typeface="Sabon Next LT"/>
            </a:endParaRPr>
          </a:p>
          <a:p>
            <a:pPr marL="0" indent="0">
              <a:buNone/>
            </a:pPr>
            <a:r>
              <a:rPr lang="en-US" dirty="0"/>
              <a:t>     </a:t>
            </a:r>
            <a:endParaRPr lang="en-US" dirty="0">
              <a:cs typeface="Sabon Next LT"/>
            </a:endParaRPr>
          </a:p>
        </p:txBody>
      </p:sp>
    </p:spTree>
    <p:extLst>
      <p:ext uri="{BB962C8B-B14F-4D97-AF65-F5344CB8AC3E}">
        <p14:creationId xmlns:p14="http://schemas.microsoft.com/office/powerpoint/2010/main" val="685681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2BDC8-B15D-5BE4-5621-6E33A5945A53}"/>
              </a:ext>
            </a:extLst>
          </p:cNvPr>
          <p:cNvSpPr>
            <a:spLocks noGrp="1"/>
          </p:cNvSpPr>
          <p:nvPr>
            <p:ph type="title"/>
          </p:nvPr>
        </p:nvSpPr>
        <p:spPr>
          <a:xfrm>
            <a:off x="1748287" y="453426"/>
            <a:ext cx="8613814" cy="811501"/>
          </a:xfrm>
        </p:spPr>
        <p:txBody>
          <a:bodyPr/>
          <a:lstStyle/>
          <a:p>
            <a:r>
              <a:rPr lang="en-US" dirty="0"/>
              <a:t>Home Page</a:t>
            </a:r>
          </a:p>
        </p:txBody>
      </p:sp>
      <p:pic>
        <p:nvPicPr>
          <p:cNvPr id="5" name="Content Placeholder 4">
            <a:extLst>
              <a:ext uri="{FF2B5EF4-FFF2-40B4-BE49-F238E27FC236}">
                <a16:creationId xmlns:a16="http://schemas.microsoft.com/office/drawing/2014/main" id="{33D238AF-D0BE-15B9-F3DD-3044260655DC}"/>
              </a:ext>
            </a:extLst>
          </p:cNvPr>
          <p:cNvPicPr>
            <a:picLocks noGrp="1" noChangeAspect="1"/>
          </p:cNvPicPr>
          <p:nvPr>
            <p:ph sz="quarter" idx="4"/>
          </p:nvPr>
        </p:nvPicPr>
        <p:blipFill>
          <a:blip r:embed="rId2"/>
          <a:srcRect r="134" b="5120"/>
          <a:stretch>
            <a:fillRect/>
          </a:stretch>
        </p:blipFill>
        <p:spPr>
          <a:xfrm>
            <a:off x="861502" y="1482181"/>
            <a:ext cx="10674943" cy="4810732"/>
          </a:xfrm>
          <a:prstGeom prst="rect">
            <a:avLst/>
          </a:prstGeom>
        </p:spPr>
      </p:pic>
      <p:sp>
        <p:nvSpPr>
          <p:cNvPr id="4" name="Slide Number Placeholder 3">
            <a:extLst>
              <a:ext uri="{FF2B5EF4-FFF2-40B4-BE49-F238E27FC236}">
                <a16:creationId xmlns:a16="http://schemas.microsoft.com/office/drawing/2014/main" id="{BDC36549-283B-D1EB-E096-0C56E9F1046D}"/>
              </a:ext>
            </a:extLst>
          </p:cNvPr>
          <p:cNvSpPr>
            <a:spLocks noGrp="1"/>
          </p:cNvSpPr>
          <p:nvPr>
            <p:ph type="sldNum" sz="quarter" idx="10"/>
          </p:nvPr>
        </p:nvSpPr>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2620653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546E7-2CB3-0AA0-D497-134AF47B4E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66B7E0-D719-03C3-22B7-A75A475BCC87}"/>
              </a:ext>
            </a:extLst>
          </p:cNvPr>
          <p:cNvSpPr>
            <a:spLocks noGrp="1"/>
          </p:cNvSpPr>
          <p:nvPr>
            <p:ph type="title"/>
          </p:nvPr>
        </p:nvSpPr>
        <p:spPr>
          <a:xfrm>
            <a:off x="324928" y="453425"/>
            <a:ext cx="4789439" cy="480824"/>
          </a:xfrm>
        </p:spPr>
        <p:txBody>
          <a:bodyPr/>
          <a:lstStyle/>
          <a:p>
            <a:r>
              <a:rPr lang="en-US" sz="2000" dirty="0"/>
              <a:t>Use case diagram - User</a:t>
            </a:r>
          </a:p>
        </p:txBody>
      </p:sp>
      <p:sp>
        <p:nvSpPr>
          <p:cNvPr id="3" name="Content Placeholder 2">
            <a:extLst>
              <a:ext uri="{FF2B5EF4-FFF2-40B4-BE49-F238E27FC236}">
                <a16:creationId xmlns:a16="http://schemas.microsoft.com/office/drawing/2014/main" id="{73AE131A-469B-C381-0E4C-DB194486086A}"/>
              </a:ext>
            </a:extLst>
          </p:cNvPr>
          <p:cNvSpPr>
            <a:spLocks noGrp="1"/>
          </p:cNvSpPr>
          <p:nvPr>
            <p:ph sz="quarter" idx="4"/>
          </p:nvPr>
        </p:nvSpPr>
        <p:spPr>
          <a:xfrm>
            <a:off x="439946" y="935842"/>
            <a:ext cx="11302381" cy="5328782"/>
          </a:xfrm>
        </p:spPr>
        <p:txBody>
          <a:bodyPr vert="horz" lIns="91440" tIns="91440" rIns="91440" bIns="91440" rtlCol="0" anchor="t">
            <a:normAutofit/>
          </a:bodyPr>
          <a:lstStyle/>
          <a:p>
            <a:pPr marL="0" indent="0">
              <a:buNone/>
            </a:pPr>
            <a:endParaRPr lang="en-US" dirty="0">
              <a:cs typeface="Sabon Next LT"/>
            </a:endParaRPr>
          </a:p>
        </p:txBody>
      </p:sp>
      <p:sp>
        <p:nvSpPr>
          <p:cNvPr id="4" name="Slide Number Placeholder 3">
            <a:extLst>
              <a:ext uri="{FF2B5EF4-FFF2-40B4-BE49-F238E27FC236}">
                <a16:creationId xmlns:a16="http://schemas.microsoft.com/office/drawing/2014/main" id="{F49A407B-1BA0-666D-EA0F-A414E2EB64BB}"/>
              </a:ext>
            </a:extLst>
          </p:cNvPr>
          <p:cNvSpPr>
            <a:spLocks noGrp="1"/>
          </p:cNvSpPr>
          <p:nvPr>
            <p:ph type="sldNum" sz="quarter" idx="10"/>
          </p:nvPr>
        </p:nvSpPr>
        <p:spPr/>
        <p:txBody>
          <a:bodyPr/>
          <a:lstStyle/>
          <a:p>
            <a:fld id="{48F63A3B-78C7-47BE-AE5E-E10140E04643}" type="slidenum">
              <a:rPr lang="en-US" smtClean="0"/>
              <a:pPr/>
              <a:t>10</a:t>
            </a:fld>
            <a:endParaRPr lang="en-US" dirty="0"/>
          </a:p>
        </p:txBody>
      </p:sp>
      <p:sp>
        <p:nvSpPr>
          <p:cNvPr id="5" name="Oval 4">
            <a:extLst>
              <a:ext uri="{FF2B5EF4-FFF2-40B4-BE49-F238E27FC236}">
                <a16:creationId xmlns:a16="http://schemas.microsoft.com/office/drawing/2014/main" id="{6527DF63-4587-E5CE-A515-C4D231254AC7}"/>
              </a:ext>
            </a:extLst>
          </p:cNvPr>
          <p:cNvSpPr/>
          <p:nvPr/>
        </p:nvSpPr>
        <p:spPr>
          <a:xfrm>
            <a:off x="1508026" y="2692081"/>
            <a:ext cx="1300990" cy="1162329"/>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Oval 6">
            <a:extLst>
              <a:ext uri="{FF2B5EF4-FFF2-40B4-BE49-F238E27FC236}">
                <a16:creationId xmlns:a16="http://schemas.microsoft.com/office/drawing/2014/main" id="{A8DA1AFD-976C-E20D-7EE4-F56EE3D95CA8}"/>
              </a:ext>
            </a:extLst>
          </p:cNvPr>
          <p:cNvSpPr/>
          <p:nvPr/>
        </p:nvSpPr>
        <p:spPr>
          <a:xfrm flipH="1">
            <a:off x="1745411" y="3068448"/>
            <a:ext cx="169014" cy="13546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679FCB6-9B27-FEA2-C34D-F5BBC886E47B}"/>
              </a:ext>
            </a:extLst>
          </p:cNvPr>
          <p:cNvSpPr/>
          <p:nvPr/>
        </p:nvSpPr>
        <p:spPr>
          <a:xfrm flipH="1">
            <a:off x="2421147" y="3068447"/>
            <a:ext cx="169014" cy="13546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A13057A7-8388-84C1-A8A9-5F85D670B530}"/>
              </a:ext>
            </a:extLst>
          </p:cNvPr>
          <p:cNvSpPr/>
          <p:nvPr/>
        </p:nvSpPr>
        <p:spPr>
          <a:xfrm>
            <a:off x="1506426" y="3589546"/>
            <a:ext cx="795866" cy="16933"/>
          </a:xfrm>
          <a:prstGeom prst="arc">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Oval 11">
            <a:extLst>
              <a:ext uri="{FF2B5EF4-FFF2-40B4-BE49-F238E27FC236}">
                <a16:creationId xmlns:a16="http://schemas.microsoft.com/office/drawing/2014/main" id="{A5414FEB-5DA9-F117-48BF-1AAD2B6A8662}"/>
              </a:ext>
            </a:extLst>
          </p:cNvPr>
          <p:cNvSpPr/>
          <p:nvPr/>
        </p:nvSpPr>
        <p:spPr>
          <a:xfrm>
            <a:off x="7621278" y="1050505"/>
            <a:ext cx="3041290" cy="8086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lumMod val="95000"/>
                    <a:lumOff val="5000"/>
                  </a:schemeClr>
                </a:solidFill>
                <a:cs typeface="Sabon Next LT"/>
              </a:rPr>
              <a:t>Crop Recommendation Prediction</a:t>
            </a:r>
          </a:p>
        </p:txBody>
      </p:sp>
      <p:sp>
        <p:nvSpPr>
          <p:cNvPr id="13" name="Oval 12">
            <a:extLst>
              <a:ext uri="{FF2B5EF4-FFF2-40B4-BE49-F238E27FC236}">
                <a16:creationId xmlns:a16="http://schemas.microsoft.com/office/drawing/2014/main" id="{B81A7FBE-2B34-CD4A-CDD7-FF4BBF011FDF}"/>
              </a:ext>
            </a:extLst>
          </p:cNvPr>
          <p:cNvSpPr/>
          <p:nvPr/>
        </p:nvSpPr>
        <p:spPr>
          <a:xfrm>
            <a:off x="7635654" y="2085673"/>
            <a:ext cx="3041290" cy="8949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lumMod val="95000"/>
                    <a:lumOff val="5000"/>
                  </a:schemeClr>
                </a:solidFill>
                <a:cs typeface="Sabon Next LT"/>
              </a:rPr>
              <a:t>View Prediction results history</a:t>
            </a:r>
          </a:p>
        </p:txBody>
      </p:sp>
      <p:sp>
        <p:nvSpPr>
          <p:cNvPr id="14" name="Oval 13">
            <a:extLst>
              <a:ext uri="{FF2B5EF4-FFF2-40B4-BE49-F238E27FC236}">
                <a16:creationId xmlns:a16="http://schemas.microsoft.com/office/drawing/2014/main" id="{5D4F09C3-B3CA-4E50-59E0-560109CACBCB}"/>
              </a:ext>
            </a:extLst>
          </p:cNvPr>
          <p:cNvSpPr/>
          <p:nvPr/>
        </p:nvSpPr>
        <p:spPr>
          <a:xfrm>
            <a:off x="7664410" y="5392467"/>
            <a:ext cx="3026913" cy="8805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b="1" dirty="0">
                <a:solidFill>
                  <a:schemeClr val="bg2">
                    <a:lumMod val="10000"/>
                  </a:schemeClr>
                </a:solidFill>
                <a:cs typeface="Sabon Next LT"/>
              </a:rPr>
              <a:t>Logout</a:t>
            </a:r>
            <a:endParaRPr lang="en-US" dirty="0">
              <a:solidFill>
                <a:schemeClr val="bg2">
                  <a:lumMod val="10000"/>
                </a:schemeClr>
              </a:solidFill>
              <a:cs typeface="Sabon Next LT"/>
            </a:endParaRPr>
          </a:p>
        </p:txBody>
      </p:sp>
      <p:sp>
        <p:nvSpPr>
          <p:cNvPr id="15" name="Oval 14">
            <a:extLst>
              <a:ext uri="{FF2B5EF4-FFF2-40B4-BE49-F238E27FC236}">
                <a16:creationId xmlns:a16="http://schemas.microsoft.com/office/drawing/2014/main" id="{0A2FA3D6-98D1-FB8A-A692-64D33209B826}"/>
              </a:ext>
            </a:extLst>
          </p:cNvPr>
          <p:cNvSpPr/>
          <p:nvPr/>
        </p:nvSpPr>
        <p:spPr>
          <a:xfrm>
            <a:off x="7664410" y="3207108"/>
            <a:ext cx="3041290" cy="9236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b="1" dirty="0">
                <a:solidFill>
                  <a:schemeClr val="tx2">
                    <a:lumMod val="49000"/>
                  </a:schemeClr>
                </a:solidFill>
                <a:cs typeface="Sabon Next LT"/>
              </a:rPr>
              <a:t>Edit Profile</a:t>
            </a:r>
          </a:p>
          <a:p>
            <a:pPr algn="ctr"/>
            <a:r>
              <a:rPr lang="en-US" b="1" dirty="0">
                <a:solidFill>
                  <a:schemeClr val="tx2">
                    <a:lumMod val="49000"/>
                  </a:schemeClr>
                </a:solidFill>
                <a:cs typeface="Sabon Next LT"/>
              </a:rPr>
              <a:t>(Update)</a:t>
            </a:r>
          </a:p>
        </p:txBody>
      </p:sp>
      <p:sp>
        <p:nvSpPr>
          <p:cNvPr id="16" name="Oval 15">
            <a:extLst>
              <a:ext uri="{FF2B5EF4-FFF2-40B4-BE49-F238E27FC236}">
                <a16:creationId xmlns:a16="http://schemas.microsoft.com/office/drawing/2014/main" id="{DFA1BBFA-26E9-4EF1-13E8-BC0E1A415802}"/>
              </a:ext>
            </a:extLst>
          </p:cNvPr>
          <p:cNvSpPr/>
          <p:nvPr/>
        </p:nvSpPr>
        <p:spPr>
          <a:xfrm>
            <a:off x="7635655" y="4357297"/>
            <a:ext cx="3041290" cy="83740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b="1" dirty="0">
                <a:solidFill>
                  <a:schemeClr val="bg2">
                    <a:lumMod val="10000"/>
                  </a:schemeClr>
                </a:solidFill>
                <a:cs typeface="Sabon Next LT"/>
              </a:rPr>
              <a:t>Change Password</a:t>
            </a:r>
          </a:p>
        </p:txBody>
      </p:sp>
      <p:cxnSp>
        <p:nvCxnSpPr>
          <p:cNvPr id="17" name="Straight Arrow Connector 16">
            <a:extLst>
              <a:ext uri="{FF2B5EF4-FFF2-40B4-BE49-F238E27FC236}">
                <a16:creationId xmlns:a16="http://schemas.microsoft.com/office/drawing/2014/main" id="{10176AC2-8AF2-354C-6A22-580ECC5FDA75}"/>
              </a:ext>
            </a:extLst>
          </p:cNvPr>
          <p:cNvCxnSpPr/>
          <p:nvPr/>
        </p:nvCxnSpPr>
        <p:spPr>
          <a:xfrm flipH="1">
            <a:off x="2135197" y="3863037"/>
            <a:ext cx="11822" cy="638036"/>
          </a:xfrm>
          <a:prstGeom prst="straightConnector1">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77B6BB5-3A14-DCF6-F85C-72CDC2D2E48A}"/>
              </a:ext>
            </a:extLst>
          </p:cNvPr>
          <p:cNvCxnSpPr/>
          <p:nvPr/>
        </p:nvCxnSpPr>
        <p:spPr>
          <a:xfrm>
            <a:off x="1684067" y="4688616"/>
            <a:ext cx="474133" cy="440266"/>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5FAF6158-2705-FC63-23D9-8B6ADAA2BCDB}"/>
              </a:ext>
            </a:extLst>
          </p:cNvPr>
          <p:cNvCxnSpPr/>
          <p:nvPr/>
        </p:nvCxnSpPr>
        <p:spPr>
          <a:xfrm>
            <a:off x="2127210" y="4508419"/>
            <a:ext cx="423333" cy="474133"/>
          </a:xfrm>
          <a:prstGeom prst="straightConnector1">
            <a:avLst/>
          </a:prstGeom>
          <a:ln/>
        </p:spPr>
        <p:style>
          <a:lnRef idx="2">
            <a:schemeClr val="dk1"/>
          </a:lnRef>
          <a:fillRef idx="0">
            <a:schemeClr val="dk1"/>
          </a:fillRef>
          <a:effectRef idx="1">
            <a:schemeClr val="dk1"/>
          </a:effectRef>
          <a:fontRef idx="minor">
            <a:schemeClr val="tx1"/>
          </a:fontRef>
        </p:style>
      </p:cxnSp>
      <p:cxnSp>
        <p:nvCxnSpPr>
          <p:cNvPr id="8" name="Straight Arrow Connector 7">
            <a:extLst>
              <a:ext uri="{FF2B5EF4-FFF2-40B4-BE49-F238E27FC236}">
                <a16:creationId xmlns:a16="http://schemas.microsoft.com/office/drawing/2014/main" id="{9A7C9B81-4E64-3276-2AB0-55074B39F188}"/>
              </a:ext>
            </a:extLst>
          </p:cNvPr>
          <p:cNvCxnSpPr/>
          <p:nvPr/>
        </p:nvCxnSpPr>
        <p:spPr>
          <a:xfrm flipV="1">
            <a:off x="1748286" y="4530145"/>
            <a:ext cx="370935" cy="465507"/>
          </a:xfrm>
          <a:prstGeom prst="straightConnector1">
            <a:avLst/>
          </a:prstGeom>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035B0869-8FF0-A961-55FC-F3BA87EC8D0F}"/>
              </a:ext>
            </a:extLst>
          </p:cNvPr>
          <p:cNvCxnSpPr/>
          <p:nvPr/>
        </p:nvCxnSpPr>
        <p:spPr>
          <a:xfrm>
            <a:off x="1524000" y="4470399"/>
            <a:ext cx="1253066" cy="16933"/>
          </a:xfrm>
          <a:prstGeom prst="straightConnector1">
            <a:avLst/>
          </a:prstGeom>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01CFF547-DD60-E8E4-7682-F06B6188B765}"/>
              </a:ext>
            </a:extLst>
          </p:cNvPr>
          <p:cNvCxnSpPr/>
          <p:nvPr/>
        </p:nvCxnSpPr>
        <p:spPr>
          <a:xfrm flipV="1">
            <a:off x="2801028" y="1510900"/>
            <a:ext cx="4810665" cy="293873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55DF38A5-2A02-3E19-6A2B-0219D78BBFB3}"/>
              </a:ext>
            </a:extLst>
          </p:cNvPr>
          <p:cNvCxnSpPr/>
          <p:nvPr/>
        </p:nvCxnSpPr>
        <p:spPr>
          <a:xfrm flipV="1">
            <a:off x="2786330" y="2603899"/>
            <a:ext cx="4828557" cy="187033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CC541403-6912-7E78-C42A-48D4B3F3695F}"/>
              </a:ext>
            </a:extLst>
          </p:cNvPr>
          <p:cNvCxnSpPr>
            <a:cxnSpLocks/>
          </p:cNvCxnSpPr>
          <p:nvPr/>
        </p:nvCxnSpPr>
        <p:spPr>
          <a:xfrm>
            <a:off x="2599426" y="4450909"/>
            <a:ext cx="5020574" cy="2377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DADF56E7-6869-54B6-1A55-F760A4713208}"/>
              </a:ext>
            </a:extLst>
          </p:cNvPr>
          <p:cNvCxnSpPr>
            <a:cxnSpLocks/>
          </p:cNvCxnSpPr>
          <p:nvPr/>
        </p:nvCxnSpPr>
        <p:spPr>
          <a:xfrm>
            <a:off x="2771954" y="4465289"/>
            <a:ext cx="4977443" cy="1517289"/>
          </a:xfrm>
          <a:prstGeom prst="straightConnector1">
            <a:avLst/>
          </a:prstGeom>
          <a:ln>
            <a:solidFill>
              <a:schemeClr val="tx1">
                <a:lumMod val="95000"/>
                <a:lumOff val="5000"/>
              </a:schemeClr>
            </a:solidFill>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210C129A-2C83-6CE0-D9B2-083D67ADA1F2}"/>
              </a:ext>
            </a:extLst>
          </p:cNvPr>
          <p:cNvCxnSpPr>
            <a:cxnSpLocks/>
          </p:cNvCxnSpPr>
          <p:nvPr/>
        </p:nvCxnSpPr>
        <p:spPr>
          <a:xfrm>
            <a:off x="2786331" y="4465286"/>
            <a:ext cx="4848046" cy="15029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1E24018E-C8D1-A337-CDD3-FCC17B6BB202}"/>
              </a:ext>
            </a:extLst>
          </p:cNvPr>
          <p:cNvCxnSpPr>
            <a:cxnSpLocks/>
          </p:cNvCxnSpPr>
          <p:nvPr/>
        </p:nvCxnSpPr>
        <p:spPr>
          <a:xfrm flipV="1">
            <a:off x="2786331" y="3696576"/>
            <a:ext cx="4819290" cy="78308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31095E82-B9B1-C859-846F-EAAE9DD84294}"/>
              </a:ext>
            </a:extLst>
          </p:cNvPr>
          <p:cNvSpPr txBox="1"/>
          <p:nvPr/>
        </p:nvSpPr>
        <p:spPr>
          <a:xfrm>
            <a:off x="1827075" y="4917057"/>
            <a:ext cx="11277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cs typeface="Sabon Next LT"/>
              </a:rPr>
              <a:t>User</a:t>
            </a:r>
            <a:endParaRPr lang="en-US" b="1" dirty="0"/>
          </a:p>
        </p:txBody>
      </p:sp>
    </p:spTree>
    <p:extLst>
      <p:ext uri="{BB962C8B-B14F-4D97-AF65-F5344CB8AC3E}">
        <p14:creationId xmlns:p14="http://schemas.microsoft.com/office/powerpoint/2010/main" val="272205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2179608" y="219007"/>
            <a:ext cx="7843837" cy="585385"/>
          </a:xfrm>
        </p:spPr>
        <p:txBody>
          <a:bodyPr/>
          <a:lstStyle/>
          <a:p>
            <a:pPr algn="ctr"/>
            <a:r>
              <a:rPr lang="en-US" dirty="0"/>
              <a:t>User registration</a:t>
            </a:r>
          </a:p>
        </p:txBody>
      </p:sp>
      <p:pic>
        <p:nvPicPr>
          <p:cNvPr id="6" name="Content Placeholder 5">
            <a:extLst>
              <a:ext uri="{FF2B5EF4-FFF2-40B4-BE49-F238E27FC236}">
                <a16:creationId xmlns:a16="http://schemas.microsoft.com/office/drawing/2014/main" id="{D40D6AAC-2F20-BD18-E0E5-122351EC3C7B}"/>
              </a:ext>
            </a:extLst>
          </p:cNvPr>
          <p:cNvPicPr>
            <a:picLocks noGrp="1" noChangeAspect="1"/>
          </p:cNvPicPr>
          <p:nvPr>
            <p:ph idx="13"/>
          </p:nvPr>
        </p:nvPicPr>
        <p:blipFill>
          <a:blip r:embed="rId3"/>
          <a:stretch>
            <a:fillRect/>
          </a:stretch>
        </p:blipFill>
        <p:spPr>
          <a:xfrm>
            <a:off x="294041" y="807791"/>
            <a:ext cx="11579982" cy="5935930"/>
          </a:xfrm>
          <a:prstGeom prst="rect">
            <a:avLst/>
          </a:prstGeom>
        </p:spPr>
      </p:pic>
    </p:spTree>
    <p:extLst>
      <p:ext uri="{BB962C8B-B14F-4D97-AF65-F5344CB8AC3E}">
        <p14:creationId xmlns:p14="http://schemas.microsoft.com/office/powerpoint/2010/main" val="4072101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0295D-BAA1-007B-4D36-4D6A12B0E7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BB376D-3E71-CACE-664B-4EAB732DCF7A}"/>
              </a:ext>
            </a:extLst>
          </p:cNvPr>
          <p:cNvSpPr>
            <a:spLocks noGrp="1"/>
          </p:cNvSpPr>
          <p:nvPr>
            <p:ph type="title"/>
          </p:nvPr>
        </p:nvSpPr>
        <p:spPr>
          <a:xfrm>
            <a:off x="1748287" y="453426"/>
            <a:ext cx="8613814" cy="610218"/>
          </a:xfrm>
        </p:spPr>
        <p:txBody>
          <a:bodyPr/>
          <a:lstStyle/>
          <a:p>
            <a:r>
              <a:rPr lang="en-US" dirty="0"/>
              <a:t>Login Page</a:t>
            </a:r>
          </a:p>
        </p:txBody>
      </p:sp>
      <p:sp>
        <p:nvSpPr>
          <p:cNvPr id="4" name="Slide Number Placeholder 3">
            <a:extLst>
              <a:ext uri="{FF2B5EF4-FFF2-40B4-BE49-F238E27FC236}">
                <a16:creationId xmlns:a16="http://schemas.microsoft.com/office/drawing/2014/main" id="{ED52B76A-3E55-24F1-3661-432E49BFD873}"/>
              </a:ext>
            </a:extLst>
          </p:cNvPr>
          <p:cNvSpPr>
            <a:spLocks noGrp="1"/>
          </p:cNvSpPr>
          <p:nvPr>
            <p:ph type="sldNum" sz="quarter" idx="10"/>
          </p:nvPr>
        </p:nvSpPr>
        <p:spPr/>
        <p:txBody>
          <a:bodyPr/>
          <a:lstStyle/>
          <a:p>
            <a:fld id="{48F63A3B-78C7-47BE-AE5E-E10140E04643}" type="slidenum">
              <a:rPr lang="en-US" smtClean="0"/>
              <a:pPr/>
              <a:t>12</a:t>
            </a:fld>
            <a:endParaRPr lang="en-US" dirty="0"/>
          </a:p>
        </p:txBody>
      </p:sp>
      <p:pic>
        <p:nvPicPr>
          <p:cNvPr id="7" name="Content Placeholder 6">
            <a:extLst>
              <a:ext uri="{FF2B5EF4-FFF2-40B4-BE49-F238E27FC236}">
                <a16:creationId xmlns:a16="http://schemas.microsoft.com/office/drawing/2014/main" id="{8D912049-C6C9-BD4C-7307-C832A0FDB3E5}"/>
              </a:ext>
            </a:extLst>
          </p:cNvPr>
          <p:cNvPicPr>
            <a:picLocks noGrp="1" noChangeAspect="1"/>
          </p:cNvPicPr>
          <p:nvPr>
            <p:ph sz="quarter" idx="4"/>
          </p:nvPr>
        </p:nvPicPr>
        <p:blipFill>
          <a:blip r:embed="rId2"/>
          <a:srcRect r="567" b="5507"/>
          <a:stretch>
            <a:fillRect/>
          </a:stretch>
        </p:blipFill>
        <p:spPr>
          <a:xfrm>
            <a:off x="717728" y="1381538"/>
            <a:ext cx="10714423" cy="4695677"/>
          </a:xfrm>
          <a:prstGeom prst="rect">
            <a:avLst/>
          </a:prstGeom>
        </p:spPr>
      </p:pic>
    </p:spTree>
    <p:extLst>
      <p:ext uri="{BB962C8B-B14F-4D97-AF65-F5344CB8AC3E}">
        <p14:creationId xmlns:p14="http://schemas.microsoft.com/office/powerpoint/2010/main" val="3088937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7D04A-48EE-B191-8F11-EE86203935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AACE5-B520-3FA7-BF23-5AF5FC9CC616}"/>
              </a:ext>
            </a:extLst>
          </p:cNvPr>
          <p:cNvSpPr>
            <a:spLocks noGrp="1"/>
          </p:cNvSpPr>
          <p:nvPr>
            <p:ph type="title"/>
          </p:nvPr>
        </p:nvSpPr>
        <p:spPr>
          <a:xfrm>
            <a:off x="1748287" y="453426"/>
            <a:ext cx="8613814" cy="610218"/>
          </a:xfrm>
        </p:spPr>
        <p:txBody>
          <a:bodyPr/>
          <a:lstStyle/>
          <a:p>
            <a:r>
              <a:rPr lang="en-US" dirty="0"/>
              <a:t>prediction</a:t>
            </a:r>
          </a:p>
        </p:txBody>
      </p:sp>
      <p:sp>
        <p:nvSpPr>
          <p:cNvPr id="4" name="Slide Number Placeholder 3">
            <a:extLst>
              <a:ext uri="{FF2B5EF4-FFF2-40B4-BE49-F238E27FC236}">
                <a16:creationId xmlns:a16="http://schemas.microsoft.com/office/drawing/2014/main" id="{905DDAB4-1FAB-BEDA-B3E3-2EAEE34232FC}"/>
              </a:ext>
            </a:extLst>
          </p:cNvPr>
          <p:cNvSpPr>
            <a:spLocks noGrp="1"/>
          </p:cNvSpPr>
          <p:nvPr>
            <p:ph type="sldNum" sz="quarter" idx="10"/>
          </p:nvPr>
        </p:nvSpPr>
        <p:spPr/>
        <p:txBody>
          <a:bodyPr/>
          <a:lstStyle/>
          <a:p>
            <a:fld id="{48F63A3B-78C7-47BE-AE5E-E10140E04643}" type="slidenum">
              <a:rPr lang="en-US" smtClean="0"/>
              <a:pPr/>
              <a:t>13</a:t>
            </a:fld>
            <a:endParaRPr lang="en-US" dirty="0"/>
          </a:p>
        </p:txBody>
      </p:sp>
      <p:pic>
        <p:nvPicPr>
          <p:cNvPr id="10" name="Content Placeholder 9">
            <a:extLst>
              <a:ext uri="{FF2B5EF4-FFF2-40B4-BE49-F238E27FC236}">
                <a16:creationId xmlns:a16="http://schemas.microsoft.com/office/drawing/2014/main" id="{1197D6E7-1DB3-FDA4-AEB5-17A1528B63C2}"/>
              </a:ext>
            </a:extLst>
          </p:cNvPr>
          <p:cNvPicPr>
            <a:picLocks noGrp="1" noChangeAspect="1"/>
          </p:cNvPicPr>
          <p:nvPr>
            <p:ph sz="quarter" idx="4"/>
          </p:nvPr>
        </p:nvPicPr>
        <p:blipFill>
          <a:blip r:embed="rId2"/>
          <a:srcRect l="201" t="-996" r="-4" b="5441"/>
          <a:stretch>
            <a:fillRect/>
          </a:stretch>
        </p:blipFill>
        <p:spPr>
          <a:xfrm>
            <a:off x="1062785" y="1352784"/>
            <a:ext cx="10381278" cy="5155850"/>
          </a:xfrm>
          <a:prstGeom prst="rect">
            <a:avLst/>
          </a:prstGeom>
        </p:spPr>
      </p:pic>
    </p:spTree>
    <p:extLst>
      <p:ext uri="{BB962C8B-B14F-4D97-AF65-F5344CB8AC3E}">
        <p14:creationId xmlns:p14="http://schemas.microsoft.com/office/powerpoint/2010/main" val="3125138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DB65F-2D6B-759E-B35F-8A4DCE8DCA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C8DAD5-2613-3F5E-25C7-7471417EAB24}"/>
              </a:ext>
            </a:extLst>
          </p:cNvPr>
          <p:cNvSpPr>
            <a:spLocks noGrp="1"/>
          </p:cNvSpPr>
          <p:nvPr>
            <p:ph type="title"/>
          </p:nvPr>
        </p:nvSpPr>
        <p:spPr>
          <a:xfrm>
            <a:off x="1748287" y="453426"/>
            <a:ext cx="8613814" cy="610218"/>
          </a:xfrm>
        </p:spPr>
        <p:txBody>
          <a:bodyPr/>
          <a:lstStyle/>
          <a:p>
            <a:r>
              <a:rPr lang="en-US" dirty="0"/>
              <a:t>Recommended crop</a:t>
            </a:r>
          </a:p>
        </p:txBody>
      </p:sp>
      <p:sp>
        <p:nvSpPr>
          <p:cNvPr id="4" name="Slide Number Placeholder 3">
            <a:extLst>
              <a:ext uri="{FF2B5EF4-FFF2-40B4-BE49-F238E27FC236}">
                <a16:creationId xmlns:a16="http://schemas.microsoft.com/office/drawing/2014/main" id="{174ABFCD-28A3-5A8F-112D-A1BBE52EC71E}"/>
              </a:ext>
            </a:extLst>
          </p:cNvPr>
          <p:cNvSpPr>
            <a:spLocks noGrp="1"/>
          </p:cNvSpPr>
          <p:nvPr>
            <p:ph type="sldNum" sz="quarter" idx="10"/>
          </p:nvPr>
        </p:nvSpPr>
        <p:spPr/>
        <p:txBody>
          <a:bodyPr/>
          <a:lstStyle/>
          <a:p>
            <a:fld id="{48F63A3B-78C7-47BE-AE5E-E10140E04643}" type="slidenum">
              <a:rPr lang="en-US" smtClean="0"/>
              <a:pPr/>
              <a:t>14</a:t>
            </a:fld>
            <a:endParaRPr lang="en-US" dirty="0"/>
          </a:p>
        </p:txBody>
      </p:sp>
      <p:pic>
        <p:nvPicPr>
          <p:cNvPr id="10" name="Content Placeholder 9">
            <a:extLst>
              <a:ext uri="{FF2B5EF4-FFF2-40B4-BE49-F238E27FC236}">
                <a16:creationId xmlns:a16="http://schemas.microsoft.com/office/drawing/2014/main" id="{0030EFB8-D29F-C4B8-C39B-7072C6588B17}"/>
              </a:ext>
            </a:extLst>
          </p:cNvPr>
          <p:cNvPicPr>
            <a:picLocks noGrp="1" noChangeAspect="1"/>
          </p:cNvPicPr>
          <p:nvPr>
            <p:ph sz="quarter" idx="4"/>
          </p:nvPr>
        </p:nvPicPr>
        <p:blipFill>
          <a:blip r:embed="rId2"/>
          <a:srcRect t="5832" b="5832"/>
          <a:stretch>
            <a:fillRect/>
          </a:stretch>
        </p:blipFill>
        <p:spPr>
          <a:xfrm>
            <a:off x="1062785" y="1352784"/>
            <a:ext cx="10381278" cy="5155850"/>
          </a:xfrm>
          <a:prstGeom prst="rect">
            <a:avLst/>
          </a:prstGeom>
        </p:spPr>
      </p:pic>
    </p:spTree>
    <p:extLst>
      <p:ext uri="{BB962C8B-B14F-4D97-AF65-F5344CB8AC3E}">
        <p14:creationId xmlns:p14="http://schemas.microsoft.com/office/powerpoint/2010/main" val="292921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1147997" y="211765"/>
            <a:ext cx="9879437" cy="575554"/>
          </a:xfrm>
        </p:spPr>
        <p:txBody>
          <a:bodyPr/>
          <a:lstStyle/>
          <a:p>
            <a:pPr algn="ctr"/>
            <a:r>
              <a:rPr lang="en-US" dirty="0"/>
              <a:t>User prediction history</a:t>
            </a:r>
          </a:p>
        </p:txBody>
      </p:sp>
      <p:pic>
        <p:nvPicPr>
          <p:cNvPr id="3" name="Picture 2">
            <a:extLst>
              <a:ext uri="{FF2B5EF4-FFF2-40B4-BE49-F238E27FC236}">
                <a16:creationId xmlns:a16="http://schemas.microsoft.com/office/drawing/2014/main" id="{E47C4484-3DF4-87DE-B583-5DE6AB9669D5}"/>
              </a:ext>
            </a:extLst>
          </p:cNvPr>
          <p:cNvPicPr>
            <a:picLocks noChangeAspect="1"/>
          </p:cNvPicPr>
          <p:nvPr/>
        </p:nvPicPr>
        <p:blipFill>
          <a:blip r:embed="rId3"/>
          <a:srcRect t="7028" b="7028"/>
          <a:stretch/>
        </p:blipFill>
        <p:spPr>
          <a:xfrm>
            <a:off x="812321" y="1004008"/>
            <a:ext cx="11113697" cy="5370083"/>
          </a:xfrm>
          <a:prstGeom prst="rect">
            <a:avLst/>
          </a:prstGeom>
        </p:spPr>
      </p:pic>
    </p:spTree>
    <p:extLst>
      <p:ext uri="{BB962C8B-B14F-4D97-AF65-F5344CB8AC3E}">
        <p14:creationId xmlns:p14="http://schemas.microsoft.com/office/powerpoint/2010/main" val="3969996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2C85E-5144-CC1C-67BB-182A6283215B}"/>
              </a:ext>
            </a:extLst>
          </p:cNvPr>
          <p:cNvSpPr>
            <a:spLocks noGrp="1"/>
          </p:cNvSpPr>
          <p:nvPr>
            <p:ph type="title"/>
          </p:nvPr>
        </p:nvSpPr>
        <p:spPr>
          <a:xfrm>
            <a:off x="324928" y="453425"/>
            <a:ext cx="4789439" cy="480824"/>
          </a:xfrm>
        </p:spPr>
        <p:txBody>
          <a:bodyPr/>
          <a:lstStyle/>
          <a:p>
            <a:r>
              <a:rPr lang="en-US" sz="2000" dirty="0"/>
              <a:t>Use case diagram - admin</a:t>
            </a:r>
          </a:p>
        </p:txBody>
      </p:sp>
      <p:sp>
        <p:nvSpPr>
          <p:cNvPr id="3" name="Content Placeholder 2">
            <a:extLst>
              <a:ext uri="{FF2B5EF4-FFF2-40B4-BE49-F238E27FC236}">
                <a16:creationId xmlns:a16="http://schemas.microsoft.com/office/drawing/2014/main" id="{00AC39C9-6E48-BBDD-0658-EBE82772737E}"/>
              </a:ext>
            </a:extLst>
          </p:cNvPr>
          <p:cNvSpPr>
            <a:spLocks noGrp="1"/>
          </p:cNvSpPr>
          <p:nvPr>
            <p:ph sz="quarter" idx="4"/>
          </p:nvPr>
        </p:nvSpPr>
        <p:spPr>
          <a:xfrm>
            <a:off x="439946" y="935842"/>
            <a:ext cx="11302381" cy="5328782"/>
          </a:xfrm>
        </p:spPr>
        <p:txBody>
          <a:bodyPr vert="horz" lIns="91440" tIns="91440" rIns="91440" bIns="91440" rtlCol="0" anchor="t">
            <a:normAutofit/>
          </a:bodyPr>
          <a:lstStyle/>
          <a:p>
            <a:pPr marL="347345" indent="-347345"/>
            <a:endParaRPr lang="en-US" dirty="0">
              <a:cs typeface="Sabon Next LT"/>
            </a:endParaRPr>
          </a:p>
        </p:txBody>
      </p:sp>
      <p:sp>
        <p:nvSpPr>
          <p:cNvPr id="4" name="Slide Number Placeholder 3">
            <a:extLst>
              <a:ext uri="{FF2B5EF4-FFF2-40B4-BE49-F238E27FC236}">
                <a16:creationId xmlns:a16="http://schemas.microsoft.com/office/drawing/2014/main" id="{6A4BC031-2B36-F348-F566-93F7A1F304A6}"/>
              </a:ext>
            </a:extLst>
          </p:cNvPr>
          <p:cNvSpPr>
            <a:spLocks noGrp="1"/>
          </p:cNvSpPr>
          <p:nvPr>
            <p:ph type="sldNum" sz="quarter" idx="10"/>
          </p:nvPr>
        </p:nvSpPr>
        <p:spPr/>
        <p:txBody>
          <a:bodyPr/>
          <a:lstStyle/>
          <a:p>
            <a:fld id="{48F63A3B-78C7-47BE-AE5E-E10140E04643}" type="slidenum">
              <a:rPr lang="en-US" smtClean="0"/>
              <a:pPr/>
              <a:t>16</a:t>
            </a:fld>
            <a:endParaRPr lang="en-US" dirty="0"/>
          </a:p>
        </p:txBody>
      </p:sp>
      <p:sp>
        <p:nvSpPr>
          <p:cNvPr id="5" name="Oval 4">
            <a:extLst>
              <a:ext uri="{FF2B5EF4-FFF2-40B4-BE49-F238E27FC236}">
                <a16:creationId xmlns:a16="http://schemas.microsoft.com/office/drawing/2014/main" id="{45561830-4AE5-41F7-172D-8978C689CAEC}"/>
              </a:ext>
            </a:extLst>
          </p:cNvPr>
          <p:cNvSpPr/>
          <p:nvPr/>
        </p:nvSpPr>
        <p:spPr>
          <a:xfrm>
            <a:off x="1508026" y="2692081"/>
            <a:ext cx="1300990" cy="1162329"/>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Oval 6">
            <a:extLst>
              <a:ext uri="{FF2B5EF4-FFF2-40B4-BE49-F238E27FC236}">
                <a16:creationId xmlns:a16="http://schemas.microsoft.com/office/drawing/2014/main" id="{8E96B475-EC35-91D0-5C4A-948BFC9F7E35}"/>
              </a:ext>
            </a:extLst>
          </p:cNvPr>
          <p:cNvSpPr/>
          <p:nvPr/>
        </p:nvSpPr>
        <p:spPr>
          <a:xfrm flipH="1">
            <a:off x="1745411" y="3068448"/>
            <a:ext cx="169014" cy="13546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53F3A5A-9B5F-DBB9-5C57-1BB2AA52A5EE}"/>
              </a:ext>
            </a:extLst>
          </p:cNvPr>
          <p:cNvSpPr/>
          <p:nvPr/>
        </p:nvSpPr>
        <p:spPr>
          <a:xfrm flipH="1">
            <a:off x="2421147" y="3068447"/>
            <a:ext cx="169014" cy="13546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A9494B5F-9FDA-55B9-CADE-D0FE1DA517D1}"/>
              </a:ext>
            </a:extLst>
          </p:cNvPr>
          <p:cNvSpPr/>
          <p:nvPr/>
        </p:nvSpPr>
        <p:spPr>
          <a:xfrm>
            <a:off x="1506426" y="3589546"/>
            <a:ext cx="795866" cy="16933"/>
          </a:xfrm>
          <a:prstGeom prst="arc">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Oval 11">
            <a:extLst>
              <a:ext uri="{FF2B5EF4-FFF2-40B4-BE49-F238E27FC236}">
                <a16:creationId xmlns:a16="http://schemas.microsoft.com/office/drawing/2014/main" id="{486725B2-6946-9C69-E23E-599312DB071B}"/>
              </a:ext>
            </a:extLst>
          </p:cNvPr>
          <p:cNvSpPr/>
          <p:nvPr/>
        </p:nvSpPr>
        <p:spPr>
          <a:xfrm>
            <a:off x="7621278" y="1050505"/>
            <a:ext cx="3041290" cy="8086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lumMod val="95000"/>
                    <a:lumOff val="5000"/>
                  </a:schemeClr>
                </a:solidFill>
                <a:cs typeface="Sabon Next LT"/>
              </a:rPr>
              <a:t>Admin Dashboard</a:t>
            </a:r>
            <a:endParaRPr lang="en-US" dirty="0" err="1">
              <a:solidFill>
                <a:schemeClr val="tx1">
                  <a:lumMod val="95000"/>
                  <a:lumOff val="5000"/>
                </a:schemeClr>
              </a:solidFill>
              <a:cs typeface="Sabon Next LT"/>
            </a:endParaRPr>
          </a:p>
        </p:txBody>
      </p:sp>
      <p:sp>
        <p:nvSpPr>
          <p:cNvPr id="13" name="Oval 12">
            <a:extLst>
              <a:ext uri="{FF2B5EF4-FFF2-40B4-BE49-F238E27FC236}">
                <a16:creationId xmlns:a16="http://schemas.microsoft.com/office/drawing/2014/main" id="{AD785AE3-C6F7-B6EC-1451-897852430637}"/>
              </a:ext>
            </a:extLst>
          </p:cNvPr>
          <p:cNvSpPr/>
          <p:nvPr/>
        </p:nvSpPr>
        <p:spPr>
          <a:xfrm>
            <a:off x="7635654" y="2085673"/>
            <a:ext cx="3041290" cy="8949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lumMod val="95000"/>
                    <a:lumOff val="5000"/>
                  </a:schemeClr>
                </a:solidFill>
                <a:cs typeface="Sabon Next LT"/>
              </a:rPr>
              <a:t>View Prediction results history</a:t>
            </a:r>
          </a:p>
        </p:txBody>
      </p:sp>
      <p:sp>
        <p:nvSpPr>
          <p:cNvPr id="14" name="Oval 13">
            <a:extLst>
              <a:ext uri="{FF2B5EF4-FFF2-40B4-BE49-F238E27FC236}">
                <a16:creationId xmlns:a16="http://schemas.microsoft.com/office/drawing/2014/main" id="{486725B2-6946-9C69-E23E-599312DB071B}"/>
              </a:ext>
            </a:extLst>
          </p:cNvPr>
          <p:cNvSpPr/>
          <p:nvPr/>
        </p:nvSpPr>
        <p:spPr>
          <a:xfrm>
            <a:off x="7664410" y="5392467"/>
            <a:ext cx="3026913" cy="8805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b="1" dirty="0">
                <a:solidFill>
                  <a:schemeClr val="bg2">
                    <a:lumMod val="10000"/>
                  </a:schemeClr>
                </a:solidFill>
                <a:cs typeface="Sabon Next LT"/>
              </a:rPr>
              <a:t>Logout</a:t>
            </a:r>
            <a:endParaRPr lang="en-US" dirty="0">
              <a:solidFill>
                <a:schemeClr val="bg2">
                  <a:lumMod val="10000"/>
                </a:schemeClr>
              </a:solidFill>
              <a:cs typeface="Sabon Next LT"/>
            </a:endParaRPr>
          </a:p>
        </p:txBody>
      </p:sp>
      <p:sp>
        <p:nvSpPr>
          <p:cNvPr id="15" name="Oval 14">
            <a:extLst>
              <a:ext uri="{FF2B5EF4-FFF2-40B4-BE49-F238E27FC236}">
                <a16:creationId xmlns:a16="http://schemas.microsoft.com/office/drawing/2014/main" id="{F1ECB073-DF1E-714A-A059-B55E1CC5B972}"/>
              </a:ext>
            </a:extLst>
          </p:cNvPr>
          <p:cNvSpPr/>
          <p:nvPr/>
        </p:nvSpPr>
        <p:spPr>
          <a:xfrm>
            <a:off x="7635655" y="3149599"/>
            <a:ext cx="3041290" cy="9236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b="1" dirty="0">
                <a:solidFill>
                  <a:schemeClr val="tx2">
                    <a:lumMod val="49000"/>
                  </a:schemeClr>
                </a:solidFill>
                <a:cs typeface="Sabon Next LT"/>
              </a:rPr>
              <a:t>Manage Reg. Users (View / delete)</a:t>
            </a:r>
          </a:p>
        </p:txBody>
      </p:sp>
      <p:sp>
        <p:nvSpPr>
          <p:cNvPr id="16" name="Oval 15">
            <a:extLst>
              <a:ext uri="{FF2B5EF4-FFF2-40B4-BE49-F238E27FC236}">
                <a16:creationId xmlns:a16="http://schemas.microsoft.com/office/drawing/2014/main" id="{840EDFBF-2F02-6CCC-5419-FF2621D01392}"/>
              </a:ext>
            </a:extLst>
          </p:cNvPr>
          <p:cNvSpPr/>
          <p:nvPr/>
        </p:nvSpPr>
        <p:spPr>
          <a:xfrm>
            <a:off x="7635655" y="4357297"/>
            <a:ext cx="3041290" cy="83740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b="1" dirty="0">
                <a:solidFill>
                  <a:schemeClr val="bg2">
                    <a:lumMod val="10000"/>
                  </a:schemeClr>
                </a:solidFill>
                <a:cs typeface="Sabon Next LT"/>
              </a:rPr>
              <a:t>Change Password</a:t>
            </a:r>
          </a:p>
        </p:txBody>
      </p:sp>
      <p:cxnSp>
        <p:nvCxnSpPr>
          <p:cNvPr id="17" name="Straight Arrow Connector 16">
            <a:extLst>
              <a:ext uri="{FF2B5EF4-FFF2-40B4-BE49-F238E27FC236}">
                <a16:creationId xmlns:a16="http://schemas.microsoft.com/office/drawing/2014/main" id="{826C8864-C997-AD96-30F8-2CF43D2B6039}"/>
              </a:ext>
            </a:extLst>
          </p:cNvPr>
          <p:cNvCxnSpPr/>
          <p:nvPr/>
        </p:nvCxnSpPr>
        <p:spPr>
          <a:xfrm flipH="1">
            <a:off x="2135197" y="3863037"/>
            <a:ext cx="11822" cy="638036"/>
          </a:xfrm>
          <a:prstGeom prst="straightConnector1">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6E016FF-2D2E-5585-664D-247287402328}"/>
              </a:ext>
            </a:extLst>
          </p:cNvPr>
          <p:cNvCxnSpPr/>
          <p:nvPr/>
        </p:nvCxnSpPr>
        <p:spPr>
          <a:xfrm>
            <a:off x="1684067" y="4688616"/>
            <a:ext cx="474133" cy="440266"/>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3B31C38E-8092-05A3-46F1-8BC968203CCA}"/>
              </a:ext>
            </a:extLst>
          </p:cNvPr>
          <p:cNvCxnSpPr/>
          <p:nvPr/>
        </p:nvCxnSpPr>
        <p:spPr>
          <a:xfrm>
            <a:off x="2127210" y="4508419"/>
            <a:ext cx="423333" cy="474133"/>
          </a:xfrm>
          <a:prstGeom prst="straightConnector1">
            <a:avLst/>
          </a:prstGeom>
          <a:ln/>
        </p:spPr>
        <p:style>
          <a:lnRef idx="2">
            <a:schemeClr val="dk1"/>
          </a:lnRef>
          <a:fillRef idx="0">
            <a:schemeClr val="dk1"/>
          </a:fillRef>
          <a:effectRef idx="1">
            <a:schemeClr val="dk1"/>
          </a:effectRef>
          <a:fontRef idx="minor">
            <a:schemeClr val="tx1"/>
          </a:fontRef>
        </p:style>
      </p:cxnSp>
      <p:cxnSp>
        <p:nvCxnSpPr>
          <p:cNvPr id="8" name="Straight Arrow Connector 7">
            <a:extLst>
              <a:ext uri="{FF2B5EF4-FFF2-40B4-BE49-F238E27FC236}">
                <a16:creationId xmlns:a16="http://schemas.microsoft.com/office/drawing/2014/main" id="{FB32D262-80E9-0663-1EF7-A18AF9074123}"/>
              </a:ext>
            </a:extLst>
          </p:cNvPr>
          <p:cNvCxnSpPr/>
          <p:nvPr/>
        </p:nvCxnSpPr>
        <p:spPr>
          <a:xfrm flipV="1">
            <a:off x="1748286" y="4530145"/>
            <a:ext cx="370935" cy="465507"/>
          </a:xfrm>
          <a:prstGeom prst="straightConnector1">
            <a:avLst/>
          </a:prstGeom>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F0B1E9F4-2732-1864-D670-34FFA49FF7E3}"/>
              </a:ext>
            </a:extLst>
          </p:cNvPr>
          <p:cNvCxnSpPr/>
          <p:nvPr/>
        </p:nvCxnSpPr>
        <p:spPr>
          <a:xfrm>
            <a:off x="1524000" y="4470399"/>
            <a:ext cx="1253066" cy="16933"/>
          </a:xfrm>
          <a:prstGeom prst="straightConnector1">
            <a:avLst/>
          </a:prstGeom>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F7BA67D2-7CF6-8569-4B3A-FA7A33269B09}"/>
              </a:ext>
            </a:extLst>
          </p:cNvPr>
          <p:cNvCxnSpPr/>
          <p:nvPr/>
        </p:nvCxnSpPr>
        <p:spPr>
          <a:xfrm flipV="1">
            <a:off x="2801028" y="1510900"/>
            <a:ext cx="4810665" cy="293873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EB8BBD4C-4FB1-BF43-6B3F-067EE15BF8ED}"/>
              </a:ext>
            </a:extLst>
          </p:cNvPr>
          <p:cNvCxnSpPr/>
          <p:nvPr/>
        </p:nvCxnSpPr>
        <p:spPr>
          <a:xfrm flipV="1">
            <a:off x="2786330" y="2603899"/>
            <a:ext cx="4828557" cy="187033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354EC68A-D69F-317E-3188-2C0F5E6A45C4}"/>
              </a:ext>
            </a:extLst>
          </p:cNvPr>
          <p:cNvCxnSpPr>
            <a:cxnSpLocks/>
          </p:cNvCxnSpPr>
          <p:nvPr/>
        </p:nvCxnSpPr>
        <p:spPr>
          <a:xfrm>
            <a:off x="2599426" y="4450909"/>
            <a:ext cx="5020574" cy="2377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FBE65C9E-9C7D-F054-48FA-8C6F221C5775}"/>
              </a:ext>
            </a:extLst>
          </p:cNvPr>
          <p:cNvCxnSpPr>
            <a:cxnSpLocks/>
          </p:cNvCxnSpPr>
          <p:nvPr/>
        </p:nvCxnSpPr>
        <p:spPr>
          <a:xfrm>
            <a:off x="2771954" y="4465289"/>
            <a:ext cx="4977443" cy="1517289"/>
          </a:xfrm>
          <a:prstGeom prst="straightConnector1">
            <a:avLst/>
          </a:prstGeom>
          <a:ln>
            <a:solidFill>
              <a:schemeClr val="tx1">
                <a:lumMod val="95000"/>
                <a:lumOff val="5000"/>
              </a:schemeClr>
            </a:solidFill>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B9015665-DDF8-8DB8-549D-01292CEC3B07}"/>
              </a:ext>
            </a:extLst>
          </p:cNvPr>
          <p:cNvCxnSpPr>
            <a:cxnSpLocks/>
          </p:cNvCxnSpPr>
          <p:nvPr/>
        </p:nvCxnSpPr>
        <p:spPr>
          <a:xfrm>
            <a:off x="2786331" y="4465286"/>
            <a:ext cx="4848046" cy="15029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791DA1F4-75B8-E764-1648-C07BE73499ED}"/>
              </a:ext>
            </a:extLst>
          </p:cNvPr>
          <p:cNvCxnSpPr>
            <a:cxnSpLocks/>
          </p:cNvCxnSpPr>
          <p:nvPr/>
        </p:nvCxnSpPr>
        <p:spPr>
          <a:xfrm flipV="1">
            <a:off x="2786331" y="3696576"/>
            <a:ext cx="4819290" cy="78308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EAB3B70E-9EF0-0647-EC1F-1CECC5BFEA58}"/>
              </a:ext>
            </a:extLst>
          </p:cNvPr>
          <p:cNvSpPr txBox="1"/>
          <p:nvPr/>
        </p:nvSpPr>
        <p:spPr>
          <a:xfrm>
            <a:off x="1716081" y="4998432"/>
            <a:ext cx="1003541" cy="3801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cs typeface="Sabon Next LT"/>
              </a:rPr>
              <a:t>Admin</a:t>
            </a:r>
            <a:endParaRPr lang="en-US" b="1" dirty="0"/>
          </a:p>
        </p:txBody>
      </p:sp>
    </p:spTree>
    <p:extLst>
      <p:ext uri="{BB962C8B-B14F-4D97-AF65-F5344CB8AC3E}">
        <p14:creationId xmlns:p14="http://schemas.microsoft.com/office/powerpoint/2010/main" val="141272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9C682-5E6C-78B6-926F-0816BC7F4C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6050C-9B97-3436-243E-6AE986F14302}"/>
              </a:ext>
            </a:extLst>
          </p:cNvPr>
          <p:cNvSpPr>
            <a:spLocks noGrp="1"/>
          </p:cNvSpPr>
          <p:nvPr>
            <p:ph type="title"/>
          </p:nvPr>
        </p:nvSpPr>
        <p:spPr>
          <a:xfrm>
            <a:off x="2366513" y="309651"/>
            <a:ext cx="7463627" cy="768371"/>
          </a:xfrm>
        </p:spPr>
        <p:txBody>
          <a:bodyPr/>
          <a:lstStyle/>
          <a:p>
            <a:r>
              <a:rPr lang="en-US" sz="2800" dirty="0"/>
              <a:t>Admin dashboard</a:t>
            </a:r>
          </a:p>
        </p:txBody>
      </p:sp>
      <p:pic>
        <p:nvPicPr>
          <p:cNvPr id="26" name="Content Placeholder 25">
            <a:extLst>
              <a:ext uri="{FF2B5EF4-FFF2-40B4-BE49-F238E27FC236}">
                <a16:creationId xmlns:a16="http://schemas.microsoft.com/office/drawing/2014/main" id="{3488699D-A476-FDFB-6DD1-CC350A13ABB0}"/>
              </a:ext>
            </a:extLst>
          </p:cNvPr>
          <p:cNvPicPr>
            <a:picLocks noGrp="1" noChangeAspect="1"/>
          </p:cNvPicPr>
          <p:nvPr>
            <p:ph sz="quarter" idx="4"/>
          </p:nvPr>
        </p:nvPicPr>
        <p:blipFill>
          <a:blip r:embed="rId2"/>
          <a:srcRect b="5060"/>
          <a:stretch>
            <a:fillRect/>
          </a:stretch>
        </p:blipFill>
        <p:spPr>
          <a:xfrm>
            <a:off x="1404119" y="1311476"/>
            <a:ext cx="9862867" cy="4591614"/>
          </a:xfrm>
          <a:prstGeom prst="rect">
            <a:avLst/>
          </a:prstGeom>
        </p:spPr>
      </p:pic>
      <p:sp>
        <p:nvSpPr>
          <p:cNvPr id="4" name="Slide Number Placeholder 3">
            <a:extLst>
              <a:ext uri="{FF2B5EF4-FFF2-40B4-BE49-F238E27FC236}">
                <a16:creationId xmlns:a16="http://schemas.microsoft.com/office/drawing/2014/main" id="{D20D2DF3-0FC2-5354-08A2-D2FE1D78A9CF}"/>
              </a:ext>
            </a:extLst>
          </p:cNvPr>
          <p:cNvSpPr>
            <a:spLocks noGrp="1"/>
          </p:cNvSpPr>
          <p:nvPr>
            <p:ph type="sldNum" sz="quarter" idx="10"/>
          </p:nvPr>
        </p:nvSpPr>
        <p:spPr/>
        <p:txBody>
          <a:bodyPr/>
          <a:lstStyle/>
          <a:p>
            <a:fld id="{48F63A3B-78C7-47BE-AE5E-E10140E04643}" type="slidenum">
              <a:rPr lang="en-US" smtClean="0"/>
              <a:pPr/>
              <a:t>17</a:t>
            </a:fld>
            <a:endParaRPr lang="en-US" dirty="0"/>
          </a:p>
        </p:txBody>
      </p:sp>
      <p:cxnSp>
        <p:nvCxnSpPr>
          <p:cNvPr id="18" name="Straight Arrow Connector 17">
            <a:extLst>
              <a:ext uri="{FF2B5EF4-FFF2-40B4-BE49-F238E27FC236}">
                <a16:creationId xmlns:a16="http://schemas.microsoft.com/office/drawing/2014/main" id="{7EE82EE0-191A-62D0-C535-F971ADE72046}"/>
              </a:ext>
            </a:extLst>
          </p:cNvPr>
          <p:cNvCxnSpPr/>
          <p:nvPr/>
        </p:nvCxnSpPr>
        <p:spPr>
          <a:xfrm>
            <a:off x="1684067" y="4688616"/>
            <a:ext cx="474133" cy="440266"/>
          </a:xfrm>
          <a:prstGeom prst="straightConnector1">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82657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4612E-DEFB-D61D-F8A1-F1A1782BE34C}"/>
              </a:ext>
            </a:extLst>
          </p:cNvPr>
          <p:cNvSpPr>
            <a:spLocks noGrp="1"/>
          </p:cNvSpPr>
          <p:nvPr>
            <p:ph type="title"/>
          </p:nvPr>
        </p:nvSpPr>
        <p:spPr>
          <a:xfrm>
            <a:off x="842513" y="467802"/>
            <a:ext cx="10511627" cy="840257"/>
          </a:xfrm>
        </p:spPr>
        <p:txBody>
          <a:bodyPr/>
          <a:lstStyle/>
          <a:p>
            <a:r>
              <a:rPr lang="en-US" dirty="0"/>
              <a:t>Prediction history</a:t>
            </a:r>
          </a:p>
        </p:txBody>
      </p:sp>
      <p:pic>
        <p:nvPicPr>
          <p:cNvPr id="5" name="Content Placeholder 4">
            <a:extLst>
              <a:ext uri="{FF2B5EF4-FFF2-40B4-BE49-F238E27FC236}">
                <a16:creationId xmlns:a16="http://schemas.microsoft.com/office/drawing/2014/main" id="{C0C785E4-B1AF-9F06-5F67-954281499FAA}"/>
              </a:ext>
            </a:extLst>
          </p:cNvPr>
          <p:cNvPicPr>
            <a:picLocks noGrp="1" noChangeAspect="1"/>
          </p:cNvPicPr>
          <p:nvPr>
            <p:ph sz="quarter" idx="4"/>
          </p:nvPr>
        </p:nvPicPr>
        <p:blipFill>
          <a:blip r:embed="rId2"/>
          <a:srcRect l="345" r="-209" b="5966"/>
          <a:stretch>
            <a:fillRect/>
          </a:stretch>
        </p:blipFill>
        <p:spPr>
          <a:xfrm>
            <a:off x="840333" y="1510935"/>
            <a:ext cx="10502414" cy="4767520"/>
          </a:xfrm>
          <a:prstGeom prst="rect">
            <a:avLst/>
          </a:prstGeom>
        </p:spPr>
      </p:pic>
      <p:sp>
        <p:nvSpPr>
          <p:cNvPr id="4" name="Slide Number Placeholder 3">
            <a:extLst>
              <a:ext uri="{FF2B5EF4-FFF2-40B4-BE49-F238E27FC236}">
                <a16:creationId xmlns:a16="http://schemas.microsoft.com/office/drawing/2014/main" id="{0BD2FF5C-EDE5-73A6-05A2-311DD3CFF0A1}"/>
              </a:ext>
            </a:extLst>
          </p:cNvPr>
          <p:cNvSpPr>
            <a:spLocks noGrp="1"/>
          </p:cNvSpPr>
          <p:nvPr>
            <p:ph type="sldNum" sz="quarter" idx="10"/>
          </p:nvPr>
        </p:nvSpPr>
        <p:spPr/>
        <p:txBody>
          <a:bodyPr/>
          <a:lstStyle/>
          <a:p>
            <a:fld id="{48F63A3B-78C7-47BE-AE5E-E10140E04643}" type="slidenum">
              <a:rPr lang="en-US" smtClean="0"/>
              <a:pPr/>
              <a:t>18</a:t>
            </a:fld>
            <a:endParaRPr lang="en-US" dirty="0"/>
          </a:p>
        </p:txBody>
      </p:sp>
    </p:spTree>
    <p:extLst>
      <p:ext uri="{BB962C8B-B14F-4D97-AF65-F5344CB8AC3E}">
        <p14:creationId xmlns:p14="http://schemas.microsoft.com/office/powerpoint/2010/main" val="1098041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F088E-E53C-9B50-1910-39B258F966D4}"/>
              </a:ext>
            </a:extLst>
          </p:cNvPr>
          <p:cNvSpPr>
            <a:spLocks noGrp="1"/>
          </p:cNvSpPr>
          <p:nvPr>
            <p:ph type="title"/>
          </p:nvPr>
        </p:nvSpPr>
        <p:spPr>
          <a:xfrm>
            <a:off x="914400" y="582822"/>
            <a:ext cx="10526004" cy="739615"/>
          </a:xfrm>
        </p:spPr>
        <p:txBody>
          <a:bodyPr/>
          <a:lstStyle/>
          <a:p>
            <a:r>
              <a:rPr lang="en-US" dirty="0"/>
              <a:t>Registered users</a:t>
            </a:r>
          </a:p>
        </p:txBody>
      </p:sp>
      <p:pic>
        <p:nvPicPr>
          <p:cNvPr id="5" name="Content Placeholder 4">
            <a:extLst>
              <a:ext uri="{FF2B5EF4-FFF2-40B4-BE49-F238E27FC236}">
                <a16:creationId xmlns:a16="http://schemas.microsoft.com/office/drawing/2014/main" id="{AA3F03C0-7A84-B1A9-75C2-AF468FC7767F}"/>
              </a:ext>
            </a:extLst>
          </p:cNvPr>
          <p:cNvPicPr>
            <a:picLocks noGrp="1" noChangeAspect="1"/>
          </p:cNvPicPr>
          <p:nvPr>
            <p:ph sz="quarter" idx="4"/>
          </p:nvPr>
        </p:nvPicPr>
        <p:blipFill>
          <a:blip r:embed="rId2"/>
          <a:srcRect l="-41" t="-13291" r="-16644" b="9494"/>
          <a:stretch>
            <a:fillRect/>
          </a:stretch>
        </p:blipFill>
        <p:spPr>
          <a:xfrm>
            <a:off x="1216585" y="720181"/>
            <a:ext cx="10534278" cy="5544796"/>
          </a:xfrm>
          <a:prstGeom prst="rect">
            <a:avLst/>
          </a:prstGeom>
        </p:spPr>
      </p:pic>
      <p:sp>
        <p:nvSpPr>
          <p:cNvPr id="4" name="Slide Number Placeholder 3">
            <a:extLst>
              <a:ext uri="{FF2B5EF4-FFF2-40B4-BE49-F238E27FC236}">
                <a16:creationId xmlns:a16="http://schemas.microsoft.com/office/drawing/2014/main" id="{488F515B-703B-8A2A-F27D-93A2C3CB95AA}"/>
              </a:ext>
            </a:extLst>
          </p:cNvPr>
          <p:cNvSpPr>
            <a:spLocks noGrp="1"/>
          </p:cNvSpPr>
          <p:nvPr>
            <p:ph type="sldNum" sz="quarter" idx="10"/>
          </p:nvPr>
        </p:nvSpPr>
        <p:spPr/>
        <p:txBody>
          <a:bodyPr/>
          <a:lstStyle/>
          <a:p>
            <a:fld id="{48F63A3B-78C7-47BE-AE5E-E10140E04643}" type="slidenum">
              <a:rPr lang="en-US" smtClean="0"/>
              <a:pPr/>
              <a:t>19</a:t>
            </a:fld>
            <a:endParaRPr lang="en-US" dirty="0"/>
          </a:p>
        </p:txBody>
      </p:sp>
    </p:spTree>
    <p:extLst>
      <p:ext uri="{BB962C8B-B14F-4D97-AF65-F5344CB8AC3E}">
        <p14:creationId xmlns:p14="http://schemas.microsoft.com/office/powerpoint/2010/main" val="2999619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D7D3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1E106-C960-932C-2A08-5E36670E0223}"/>
              </a:ext>
            </a:extLst>
          </p:cNvPr>
          <p:cNvSpPr>
            <a:spLocks noGrp="1"/>
          </p:cNvSpPr>
          <p:nvPr>
            <p:ph type="title"/>
          </p:nvPr>
        </p:nvSpPr>
        <p:spPr>
          <a:xfrm>
            <a:off x="842513" y="424670"/>
            <a:ext cx="10511627" cy="1012785"/>
          </a:xfrm>
        </p:spPr>
        <p:txBody>
          <a:bodyPr/>
          <a:lstStyle/>
          <a:p>
            <a:r>
              <a:rPr lang="en-US" dirty="0"/>
              <a:t>Future scope</a:t>
            </a:r>
          </a:p>
        </p:txBody>
      </p:sp>
      <p:sp>
        <p:nvSpPr>
          <p:cNvPr id="3" name="Content Placeholder 2">
            <a:extLst>
              <a:ext uri="{FF2B5EF4-FFF2-40B4-BE49-F238E27FC236}">
                <a16:creationId xmlns:a16="http://schemas.microsoft.com/office/drawing/2014/main" id="{5CCAEAB6-EC58-D9F8-1FD2-CEB6A0423A45}"/>
              </a:ext>
            </a:extLst>
          </p:cNvPr>
          <p:cNvSpPr>
            <a:spLocks noGrp="1"/>
          </p:cNvSpPr>
          <p:nvPr>
            <p:ph sz="quarter" idx="4"/>
          </p:nvPr>
        </p:nvSpPr>
        <p:spPr>
          <a:xfrm>
            <a:off x="842513" y="1855991"/>
            <a:ext cx="10511627" cy="3948557"/>
          </a:xfrm>
        </p:spPr>
        <p:txBody>
          <a:bodyPr vert="horz" lIns="91440" tIns="91440" rIns="91440" bIns="91440" rtlCol="0" anchor="t">
            <a:noAutofit/>
          </a:bodyPr>
          <a:lstStyle/>
          <a:p>
            <a:pPr marL="0" indent="0">
              <a:buNone/>
            </a:pPr>
            <a:r>
              <a:rPr lang="en-US" sz="2800" dirty="0">
                <a:cs typeface="Sabon Next LT"/>
              </a:rPr>
              <a:t>The future of  Crop Recommendation Systems using Random Forest Classifier includes improving accuracy through advanced algorithms and technologies, personalizing recommendations based on individual preferences and farm conditions, integrating climate change adaption strategies, developing mobile applications for enhanced accessibility, fostering knowledge sharing and collaboration, expanding to different regions and crops, and incorporating decision support tools. These advancements aim to optimize agricultural practices, increase productivity, and address emerging challenges in the agricultural sector.</a:t>
            </a:r>
          </a:p>
        </p:txBody>
      </p:sp>
      <p:sp>
        <p:nvSpPr>
          <p:cNvPr id="4" name="Slide Number Placeholder 3">
            <a:extLst>
              <a:ext uri="{FF2B5EF4-FFF2-40B4-BE49-F238E27FC236}">
                <a16:creationId xmlns:a16="http://schemas.microsoft.com/office/drawing/2014/main" id="{161EE302-AC8A-93F6-A7BE-1A4E911A83CE}"/>
              </a:ext>
            </a:extLst>
          </p:cNvPr>
          <p:cNvSpPr>
            <a:spLocks noGrp="1"/>
          </p:cNvSpPr>
          <p:nvPr>
            <p:ph type="sldNum" sz="quarter" idx="10"/>
          </p:nvPr>
        </p:nvSpPr>
        <p:spPr/>
        <p:txBody>
          <a:bodyPr/>
          <a:lstStyle/>
          <a:p>
            <a:fld id="{48F63A3B-78C7-47BE-AE5E-E10140E04643}" type="slidenum">
              <a:rPr lang="en-US" smtClean="0"/>
              <a:pPr/>
              <a:t>20</a:t>
            </a:fld>
            <a:endParaRPr lang="en-US" dirty="0"/>
          </a:p>
        </p:txBody>
      </p:sp>
    </p:spTree>
    <p:extLst>
      <p:ext uri="{BB962C8B-B14F-4D97-AF65-F5344CB8AC3E}">
        <p14:creationId xmlns:p14="http://schemas.microsoft.com/office/powerpoint/2010/main" val="36681218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32D04-0BC0-5A34-1A83-ACB0686C880D}"/>
              </a:ext>
            </a:extLst>
          </p:cNvPr>
          <p:cNvSpPr>
            <a:spLocks noGrp="1"/>
          </p:cNvSpPr>
          <p:nvPr>
            <p:ph type="title"/>
          </p:nvPr>
        </p:nvSpPr>
        <p:spPr>
          <a:xfrm>
            <a:off x="1550564" y="383457"/>
            <a:ext cx="9875463" cy="641175"/>
          </a:xfrm>
        </p:spPr>
        <p:txBody>
          <a:bodyPr/>
          <a:lstStyle/>
          <a:p>
            <a:pPr algn="ctr"/>
            <a:r>
              <a:rPr lang="en-US" dirty="0"/>
              <a:t>Conclusion</a:t>
            </a:r>
            <a:endParaRPr lang="en-IN" dirty="0"/>
          </a:p>
        </p:txBody>
      </p:sp>
      <p:sp>
        <p:nvSpPr>
          <p:cNvPr id="3" name="TextBox 2">
            <a:extLst>
              <a:ext uri="{FF2B5EF4-FFF2-40B4-BE49-F238E27FC236}">
                <a16:creationId xmlns:a16="http://schemas.microsoft.com/office/drawing/2014/main" id="{6C8F32E7-61F0-65B4-00E4-34C7CF6B9D62}"/>
              </a:ext>
            </a:extLst>
          </p:cNvPr>
          <p:cNvSpPr txBox="1"/>
          <p:nvPr/>
        </p:nvSpPr>
        <p:spPr>
          <a:xfrm>
            <a:off x="1248697" y="1260606"/>
            <a:ext cx="10327208" cy="4524315"/>
          </a:xfrm>
          <a:prstGeom prst="rect">
            <a:avLst/>
          </a:prstGeom>
          <a:noFill/>
        </p:spPr>
        <p:txBody>
          <a:bodyPr wrap="square" lIns="91440" tIns="45720" rIns="91440" bIns="45720" rtlCol="0" anchor="t">
            <a:spAutoFit/>
          </a:bodyPr>
          <a:lstStyle/>
          <a:p>
            <a:r>
              <a:rPr lang="en-US" sz="2400" dirty="0">
                <a:ea typeface="+mn-lt"/>
                <a:cs typeface="+mn-lt"/>
              </a:rPr>
              <a:t>In conclusion, the Crop Recommendation System using Random Forest Classifier offers an efficient and effective solution for assisting farmers in making informed decisions about crop selection. By leveraging machine learning algorithms and historical data, the system provides personalized crop recommendations based on various soil and environmental factors. It simplifies the decision-making process, enhances productivity, and optimizes resource utilization. The system's user-friendly interface and easy accessibility make it a valuable tool for farmers, enabling them to improve their agricultural practices and achieve better crop yields. As technology advances and more data becomes available, there is a great potential for further enhancing the accuracy and performance of Crop Recommendation Systems, ultimately contributing to sustainable farming practices and agricultural growth</a:t>
            </a:r>
            <a:endParaRPr lang="en-US" sz="2400">
              <a:cs typeface="Sabon Next LT"/>
            </a:endParaRPr>
          </a:p>
        </p:txBody>
      </p:sp>
    </p:spTree>
    <p:extLst>
      <p:ext uri="{BB962C8B-B14F-4D97-AF65-F5344CB8AC3E}">
        <p14:creationId xmlns:p14="http://schemas.microsoft.com/office/powerpoint/2010/main" val="16181715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1278193" y="1966451"/>
            <a:ext cx="8288594" cy="2239298"/>
          </a:xfrm>
        </p:spPr>
        <p:txBody>
          <a:bodyPr/>
          <a:lstStyle/>
          <a:p>
            <a:r>
              <a:rPr lang="en-US" dirty="0"/>
              <a:t>Thank you</a:t>
            </a:r>
            <a:br>
              <a:rPr lang="en-US" dirty="0"/>
            </a:br>
            <a:endParaRPr lang="en-US" dirty="0"/>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6DBB56F-4362-4386-A1A1-3DF89889661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{387B34C8-0083-4F84-883A-23C3815B3B2D}tf78438558_win32</Template>
  <TotalTime>130</TotalTime>
  <Words>681</Words>
  <Application>Microsoft Office PowerPoint</Application>
  <PresentationFormat>Widescreen</PresentationFormat>
  <Paragraphs>74</Paragraphs>
  <Slides>22</Slides>
  <Notes>6</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Custom</vt:lpstr>
      <vt:lpstr>Agenda</vt:lpstr>
      <vt:lpstr>Introduction</vt:lpstr>
      <vt:lpstr>Objective</vt:lpstr>
      <vt:lpstr>Problem definition</vt:lpstr>
      <vt:lpstr>Need of the system</vt:lpstr>
      <vt:lpstr>User module</vt:lpstr>
      <vt:lpstr>Admin module</vt:lpstr>
      <vt:lpstr>Technology Used</vt:lpstr>
      <vt:lpstr>Home Page</vt:lpstr>
      <vt:lpstr>Use case diagram - User</vt:lpstr>
      <vt:lpstr>User registration</vt:lpstr>
      <vt:lpstr>Login Page</vt:lpstr>
      <vt:lpstr>prediction</vt:lpstr>
      <vt:lpstr>Recommended crop</vt:lpstr>
      <vt:lpstr>User prediction history</vt:lpstr>
      <vt:lpstr>Use case diagram - admin</vt:lpstr>
      <vt:lpstr>Admin dashboard</vt:lpstr>
      <vt:lpstr>Prediction history</vt:lpstr>
      <vt:lpstr>Registered users</vt:lpstr>
      <vt:lpstr>Future scope</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Dhanashri Bakhal</dc:creator>
  <cp:lastModifiedBy>Dhanashri Bakhal</cp:lastModifiedBy>
  <cp:revision>607</cp:revision>
  <dcterms:created xsi:type="dcterms:W3CDTF">2025-06-01T11:31:41Z</dcterms:created>
  <dcterms:modified xsi:type="dcterms:W3CDTF">2026-02-05T18:18:57Z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